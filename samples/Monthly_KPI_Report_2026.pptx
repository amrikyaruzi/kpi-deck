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c726737717.xml" ContentType="application/vnd.openxmlformats-officedocument.drawingml.chart+xml"/>
  <Override PartName="/ppt/slides/slide4.xml" ContentType="application/vnd.openxmlformats-officedocument.presentationml.slide+xml"/>
  <Override PartName="/ppt/charts/chart2c7d78d8ad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/Relationships>

</file>

<file path=ppt/charts/_rels/chart2c7d78d8ad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c74f5d8ef5.xlsx"/></Relationships>

</file>

<file path=ppt/charts/_rels/chart2c7267377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c736a9cdc6.xlsx"/></Relationships>

</file>

<file path=ppt/charts/chart2c7d78d8ad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Hand Hygiene Compliance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84.61538</c:v>
                </c:pt>
                <c:pt idx="1">
                  <c:v>89.47368</c:v>
                </c:pt>
                <c:pt idx="2">
                  <c:v>81.86813</c:v>
                </c:pt>
                <c:pt idx="3">
                  <c:v>84.86842</c:v>
                </c:pt>
                <c:pt idx="4">
                  <c:v>85.35565</c:v>
                </c:pt>
                <c:pt idx="5">
                  <c:v>89.20000</c:v>
                </c:pt>
                <c:pt idx="6">
                  <c:v>57.86164</c:v>
                </c:pt>
                <c:pt idx="7">
                  <c:v>88.41463</c:v>
                </c:pt>
                <c:pt idx="8">
                  <c:v>84.65608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83.66051</c:v>
                </c:pt>
                <c:pt idx="1">
                  <c:v>83.66051</c:v>
                </c:pt>
                <c:pt idx="2">
                  <c:v>83.66051</c:v>
                </c:pt>
                <c:pt idx="3">
                  <c:v>83.66051</c:v>
                </c:pt>
                <c:pt idx="4">
                  <c:v>83.66051</c:v>
                </c:pt>
                <c:pt idx="5">
                  <c:v>83.66051</c:v>
                </c:pt>
                <c:pt idx="6">
                  <c:v>83.66051</c:v>
                </c:pt>
                <c:pt idx="7">
                  <c:v>83.66051</c:v>
                </c:pt>
                <c:pt idx="8">
                  <c:v>83.66051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92.19264</c:v>
                </c:pt>
                <c:pt idx="1">
                  <c:v>91.00621</c:v>
                </c:pt>
                <c:pt idx="2">
                  <c:v>91.88227</c:v>
                </c:pt>
                <c:pt idx="3">
                  <c:v>92.65712</c:v>
                </c:pt>
                <c:pt idx="4">
                  <c:v>90.83518</c:v>
                </c:pt>
                <c:pt idx="5">
                  <c:v>90.67556</c:v>
                </c:pt>
                <c:pt idx="6">
                  <c:v>92.45685</c:v>
                </c:pt>
                <c:pt idx="7">
                  <c:v>92.32172</c:v>
                </c:pt>
                <c:pt idx="8">
                  <c:v>91.72858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75.12838</c:v>
                </c:pt>
                <c:pt idx="1">
                  <c:v>76.31481</c:v>
                </c:pt>
                <c:pt idx="2">
                  <c:v>75.43874</c:v>
                </c:pt>
                <c:pt idx="3">
                  <c:v>74.66390</c:v>
                </c:pt>
                <c:pt idx="4">
                  <c:v>76.48584</c:v>
                </c:pt>
                <c:pt idx="5">
                  <c:v>76.64546</c:v>
                </c:pt>
                <c:pt idx="6">
                  <c:v>74.86416</c:v>
                </c:pt>
                <c:pt idx="7">
                  <c:v>74.99929</c:v>
                </c:pt>
                <c:pt idx="8">
                  <c:v>75.59243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Special cause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00000">
                  <a:alpha val="100000"/>
                </a:srgbClr>
              </a:solidFill>
              <a:ln>
                <a:solidFill>
                  <a:srgbClr val="C0000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sheet1!$G$2:$G$13</c:f>
              <c:numCache>
                <c:ptCount val="12"/>
                <c:pt idx="6">
                  <c:v>57.86164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10.00"/>
          <c:min val="4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c7267377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Correct Patient Identification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99.03846</c:v>
                </c:pt>
                <c:pt idx="1">
                  <c:v>98.42805</c:v>
                </c:pt>
                <c:pt idx="2">
                  <c:v>97.64890</c:v>
                </c:pt>
                <c:pt idx="3">
                  <c:v>98.14551</c:v>
                </c:pt>
                <c:pt idx="4">
                  <c:v>98.72814</c:v>
                </c:pt>
                <c:pt idx="5">
                  <c:v>98.57143</c:v>
                </c:pt>
                <c:pt idx="6">
                  <c:v>98.24305</c:v>
                </c:pt>
                <c:pt idx="7">
                  <c:v>98.09203</c:v>
                </c:pt>
                <c:pt idx="8">
                  <c:v>98.38275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98.35035</c:v>
                </c:pt>
                <c:pt idx="1">
                  <c:v>98.35035</c:v>
                </c:pt>
                <c:pt idx="2">
                  <c:v>98.35035</c:v>
                </c:pt>
                <c:pt idx="3">
                  <c:v>98.35035</c:v>
                </c:pt>
                <c:pt idx="4">
                  <c:v>98.35035</c:v>
                </c:pt>
                <c:pt idx="5">
                  <c:v>98.35035</c:v>
                </c:pt>
                <c:pt idx="6">
                  <c:v>98.35035</c:v>
                </c:pt>
                <c:pt idx="7">
                  <c:v>98.35035</c:v>
                </c:pt>
                <c:pt idx="8">
                  <c:v>98.35035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99.88007</c:v>
                </c:pt>
                <c:pt idx="1">
                  <c:v>99.67913</c:v>
                </c:pt>
                <c:pt idx="2">
                  <c:v>99.86320</c:v>
                </c:pt>
                <c:pt idx="3">
                  <c:v>99.79362</c:v>
                </c:pt>
                <c:pt idx="4">
                  <c:v>99.87398</c:v>
                </c:pt>
                <c:pt idx="5">
                  <c:v>99.87277</c:v>
                </c:pt>
                <c:pt idx="6">
                  <c:v>99.81251</c:v>
                </c:pt>
                <c:pt idx="7">
                  <c:v>99.63052</c:v>
                </c:pt>
                <c:pt idx="8">
                  <c:v>99.75318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96.82063</c:v>
                </c:pt>
                <c:pt idx="1">
                  <c:v>97.02158</c:v>
                </c:pt>
                <c:pt idx="2">
                  <c:v>96.83751</c:v>
                </c:pt>
                <c:pt idx="3">
                  <c:v>96.90709</c:v>
                </c:pt>
                <c:pt idx="4">
                  <c:v>96.82672</c:v>
                </c:pt>
                <c:pt idx="5">
                  <c:v>96.82793</c:v>
                </c:pt>
                <c:pt idx="6">
                  <c:v>96.88820</c:v>
                </c:pt>
                <c:pt idx="7">
                  <c:v>97.07019</c:v>
                </c:pt>
                <c:pt idx="8">
                  <c:v>96.94753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01.00"/>
          <c:min val="96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r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8151" y="628072"/>
            <a:ext cx="1356758" cy="1275353"/>
          </a:xfrm>
          <a:prstGeom prst="rect">
            <a:avLst/>
          </a:prstGeom>
        </p:spPr>
      </p:pic>
      <p:sp>
        <p:nvSpPr>
          <p:cNvPr id="3" name="Name box"/>
          <p:cNvSpPr/>
          <p:nvPr userDrawn="1"/>
        </p:nvSpPr>
        <p:spPr>
          <a:xfrm>
            <a:off x="1458468" y="2358238"/>
            <a:ext cx="9274759" cy="1232611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3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HOSPITAL NAME</a:t>
            </a:r>
          </a:p>
        </p:txBody>
      </p:sp>
      <p:sp>
        <p:nvSpPr>
          <p:cNvPr id="5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Deck title</a:t>
            </a:r>
          </a:p>
        </p:txBody>
      </p:sp>
      <p:sp>
        <p:nvSpPr>
          <p:cNvPr id="6" name="ph_subtitle"/>
          <p:cNvSpPr>
            <a:spLocks noGrp="1"/>
          </p:cNvSpPr>
          <p:nvPr>
            <p:ph type="body" idx="11"/>
          </p:nvPr>
        </p:nvSpPr>
        <p:spPr>
          <a:xfrm>
            <a:off x="1524305" y="4032504"/>
            <a:ext cx="91440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6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Unit (when one deck per unit)</a:t>
            </a:r>
          </a:p>
        </p:txBody>
      </p:sp>
      <p:sp>
        <p:nvSpPr>
          <p:cNvPr id="7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period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dicato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s heading"/>
          <p:cNvSpPr txBox="1"/>
          <p:nvPr userDrawn="1"/>
        </p:nvSpPr>
        <p:spPr>
          <a:xfrm>
            <a:off x="837590" y="208483"/>
            <a:ext cx="5486400" cy="461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2400" b="1" i="0">
                <a:solidFill>
                  <a:srgbClr val="7F7F7F"/>
                </a:solidFill>
                <a:latin typeface="Arial"/>
                <a:cs typeface="Arial"/>
              </a:rPr>
              <a:t>Indicators:</a:t>
            </a:r>
          </a:p>
        </p:txBody>
      </p:sp>
      <p:sp>
        <p:nvSpPr>
          <p:cNvPr id="3" name="List box"/>
          <p:cNvSpPr/>
          <p:nvPr userDrawn="1"/>
        </p:nvSpPr>
        <p:spPr>
          <a:xfrm>
            <a:off x="746150" y="670255"/>
            <a:ext cx="10972800" cy="5980176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 wrap="square" lIns="0" tIns="0" rIns="0" bIns="0" anchor="t">
            <a:normAutofit/>
          </a:bodyPr>
          <a:lstStyle>
            <a:lvl1pPr marL="90932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lang="en-GB" sz="14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titles (filled by R)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KPI Indic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2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</a:t>
            </a:r>
          </a:p>
        </p:txBody>
      </p:sp>
      <p:sp>
        <p:nvSpPr>
          <p:cNvPr id="3" name="Header box"/>
          <p:cNvSpPr/>
          <p:nvPr userDrawn="1"/>
        </p:nvSpPr>
        <p:spPr>
          <a:xfrm>
            <a:off x="219456" y="640080"/>
            <a:ext cx="11759184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4" name="Header divider"/>
          <p:cNvCxnSpPr/>
          <p:nvPr userDrawn="1"/>
        </p:nvCxnSpPr>
        <p:spPr>
          <a:xfrm>
            <a:off x="3749040" y="640080"/>
            <a:ext cx="0" cy="1097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Measure: …</a:t>
            </a:r>
          </a:p>
        </p:txBody>
      </p:sp>
      <p:sp>
        <p:nvSpPr>
          <p:cNvPr id="6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Target: …</a:t>
            </a:r>
          </a:p>
        </p:txBody>
      </p:sp>
      <p:sp>
        <p:nvSpPr>
          <p:cNvPr id="7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schedule: …</a:t>
            </a:r>
          </a:p>
        </p:txBody>
      </p:sp>
      <p:sp>
        <p:nvSpPr>
          <p:cNvPr id="8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Definition: …</a:t>
            </a:r>
          </a:p>
        </p:txBody>
      </p:sp>
      <p:sp>
        <p:nvSpPr>
          <p:cNvPr id="9" name="Numerator label"/>
          <p:cNvSpPr txBox="1"/>
          <p:nvPr userDrawn="1"/>
        </p:nvSpPr>
        <p:spPr>
          <a:xfrm>
            <a:off x="3822192" y="109728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Numerator:</a:t>
            </a:r>
          </a:p>
        </p:txBody>
      </p:sp>
      <p:sp>
        <p:nvSpPr>
          <p:cNvPr id="10" name="Denominator label"/>
          <p:cNvSpPr txBox="1"/>
          <p:nvPr userDrawn="1"/>
        </p:nvSpPr>
        <p:spPr>
          <a:xfrm>
            <a:off x="3822192" y="135331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Denominator:</a:t>
            </a:r>
          </a:p>
        </p:txBody>
      </p:sp>
      <p:sp>
        <p:nvSpPr>
          <p:cNvPr id="11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6949440" cy="219456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Numerator definition × 100%</a:t>
            </a:r>
          </a:p>
        </p:txBody>
      </p:sp>
      <p:sp>
        <p:nvSpPr>
          <p:cNvPr id="12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6949440" cy="219456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Denominator definition</a:t>
            </a:r>
          </a:p>
        </p:txBody>
      </p:sp>
      <p:sp>
        <p:nvSpPr>
          <p:cNvPr id="13" name="ph_table"/>
          <p:cNvSpPr>
            <a:spLocks noGrp="1"/>
          </p:cNvSpPr>
          <p:nvPr>
            <p:ph type="tbl" idx="16"/>
          </p:nvPr>
        </p:nvSpPr>
        <p:spPr>
          <a:xfrm>
            <a:off x="219456" y="1737360"/>
            <a:ext cx="11759184" cy="1298448"/>
          </a:xfrm>
        </p:spPr>
        <p:txBody>
          <a:bodyPr/>
          <a:lstStyle/>
          <a:p>
            <a:r>
              <a:rPr lang="en-GB"/>
              <a:t>Monthly table (filled by R)</a:t>
            </a:r>
          </a:p>
        </p:txBody>
      </p:sp>
      <p:sp>
        <p:nvSpPr>
          <p:cNvPr id="14" name="Bottom box"/>
          <p:cNvSpPr/>
          <p:nvPr userDrawn="1"/>
        </p:nvSpPr>
        <p:spPr>
          <a:xfrm>
            <a:off x="219456" y="3035808"/>
            <a:ext cx="11759184" cy="322783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15" name="Bottom divider"/>
          <p:cNvCxnSpPr/>
          <p:nvPr userDrawn="1"/>
        </p:nvCxnSpPr>
        <p:spPr>
          <a:xfrm>
            <a:off x="4572000" y="3035808"/>
            <a:ext cx="0" cy="322783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6" name="Analysis label"/>
          <p:cNvSpPr txBox="1"/>
          <p:nvPr userDrawn="1"/>
        </p:nvSpPr>
        <p:spPr>
          <a:xfrm>
            <a:off x="292608" y="3090672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Analysis:</a:t>
            </a:r>
          </a:p>
        </p:txBody>
      </p:sp>
      <p:sp>
        <p:nvSpPr>
          <p:cNvPr id="17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800" b="0" i="1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(auto-drafted note)</a:t>
            </a:r>
          </a:p>
        </p:txBody>
      </p:sp>
      <p:sp>
        <p:nvSpPr>
          <p:cNvPr id="18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analysis</a:t>
            </a:r>
          </a:p>
        </p:txBody>
      </p:sp>
      <p:sp>
        <p:nvSpPr>
          <p:cNvPr id="19" name="Action label"/>
          <p:cNvSpPr txBox="1"/>
          <p:nvPr userDrawn="1"/>
        </p:nvSpPr>
        <p:spPr>
          <a:xfrm>
            <a:off x="292608" y="4718304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Action:</a:t>
            </a:r>
          </a:p>
        </p:txBody>
      </p:sp>
      <p:sp>
        <p:nvSpPr>
          <p:cNvPr id="20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actions</a:t>
            </a:r>
          </a:p>
        </p:txBody>
      </p:sp>
      <p:sp>
        <p:nvSpPr>
          <p:cNvPr id="21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Data Provider: …</a:t>
            </a:r>
          </a:p>
        </p:txBody>
      </p:sp>
      <p:sp>
        <p:nvSpPr>
          <p:cNvPr id="22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Responsible: …</a:t>
            </a:r>
          </a:p>
        </p:txBody>
      </p:sp>
      <p:sp>
        <p:nvSpPr>
          <p:cNvPr id="23" name="ph_chart"/>
          <p:cNvSpPr>
            <a:spLocks noGrp="1"/>
          </p:cNvSpPr>
          <p:nvPr>
            <p:ph type="chart" idx="22"/>
          </p:nvPr>
        </p:nvSpPr>
        <p:spPr>
          <a:xfrm>
            <a:off x="4626864" y="3081528"/>
            <a:ext cx="7296912" cy="3136392"/>
          </a:xfrm>
        </p:spPr>
        <p:txBody>
          <a:bodyPr/>
          <a:lstStyle/>
          <a:p>
            <a:r>
              <a:rPr lang="en-GB"/>
              <a:t>Control chart (filled by R)</a:t>
            </a:r>
          </a:p>
        </p:txBody>
      </p:sp>
      <p:pic>
        <p:nvPicPr>
          <p:cNvPr id="24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032" y="6409944"/>
            <a:ext cx="272374" cy="256032"/>
          </a:xfrm>
          <a:prstGeom prst="rect">
            <a:avLst/>
          </a:prstGeom>
        </p:spPr>
      </p:pic>
      <p:sp>
        <p:nvSpPr>
          <p:cNvPr id="25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Organisation name</a:t>
            </a:r>
          </a:p>
        </p:txBody>
      </p:sp>
      <p:sp>
        <p:nvSpPr>
          <p:cNvPr id="26" name="Red bar"/>
          <p:cNvSpPr/>
          <p:nvPr userDrawn="1"/>
        </p:nvSpPr>
        <p:spPr>
          <a:xfrm>
            <a:off x="0" y="6739128"/>
            <a:ext cx="12191970" cy="12189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PI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c72673771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c7d78d8ad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MJI MPYA REFERRAL HOSPITAL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Dodoma</a:t>
            </a:r>
          </a:p>
        </p:txBody>
      </p:sp>
      <p:sp>
        <p:nvSpPr>
          <p:cNvPr id="3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/>
          <a:lstStyle/>
          <a:p>
            <a:r>
              <a:rPr/>
              <a:t>Monthly KPI Report</a:t>
            </a:r>
          </a:p>
        </p:txBody>
      </p:sp>
      <p:sp>
        <p:nvSpPr>
          <p:cNvPr id="4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/>
          <a:lstStyle/>
          <a:p>
            <a:r>
              <a:rPr/>
              <a:t>Q1 -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/>
          <a:lstStyle/>
          <a:p>
            <a:r>
              <a:rPr sz="1400"/>
              <a:t>Correct Patient Identification</a:t>
            </a:r>
          </a:p>
          <a:p>
            <a:r>
              <a:rPr sz="1400"/>
              <a:t>Hand Hygiene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Correct Patient Identification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IPSG 1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100%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opportunities that comply to IPSG 1 audit criteria.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4312323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opportunities that comply to IPSG 1 audit criteria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4312323" cy="219456"/>
          </a:xfrm>
        </p:spPr>
        <p:txBody>
          <a:bodyPr/>
          <a:lstStyle/>
          <a:p>
            <a:r>
              <a:rPr/>
              <a:t>Total number of opportunities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4312323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99.0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98.4% (730/742), below the 100% target; up from 98.1%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98.2% vs Q2 98.5%.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Nursing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Hand Hygiene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Hand Hygiene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100%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Measures compliance to hand hygiene practices for staff (the 5 moments of hand hygiene).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4110596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sampled staff practicing correct hand hygiene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4110596" cy="219456"/>
          </a:xfrm>
        </p:spPr>
        <p:txBody>
          <a:bodyPr/>
          <a:lstStyle/>
          <a:p>
            <a:r>
              <a:rPr/>
              <a:t>Total observed sampled data in a month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4110596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228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84.7% (160/189), below the 100% target; down from 88.4%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77.5% vs Q2 86.7%.</a:t>
            </a:r>
          </a:p>
          <a:p>
            <a:r>
              <a:rPr sz="1050"/>
              <a:t>Jul outside the control limits: special-cause variation, review what changed.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 sz="1050"/>
              <a:t>Sensitization of staff ongoing, with reminders given in routine meetings.</a:t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Infection Prevention &amp; Control team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KPI Master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2026-10-18T22:35:41Z</dcterms:modified>
  <cp:category/>
</cp:coreProperties>
</file>