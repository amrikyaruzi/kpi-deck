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2365fa1d25.xml" ContentType="application/vnd.openxmlformats-officedocument.drawingml.chart+xml"/>
  <Override PartName="/ppt/slides/slide4.xml" ContentType="application/vnd.openxmlformats-officedocument.presentationml.slide+xml"/>
  <Override PartName="/ppt/charts/chart23659c9ebf6.xml" ContentType="application/vnd.openxmlformats-officedocument.drawingml.chart+xml"/>
  <Override PartName="/ppt/slides/slide5.xml" ContentType="application/vnd.openxmlformats-officedocument.presentationml.slide+xml"/>
  <Override PartName="/ppt/charts/chart236100d4bda.xml" ContentType="application/vnd.openxmlformats-officedocument.drawingml.chart+xml"/>
  <Override PartName="/ppt/slides/slide6.xml" ContentType="application/vnd.openxmlformats-officedocument.presentationml.slide+xml"/>
  <Override PartName="/ppt/charts/chart236377dabe7.xml" ContentType="application/vnd.openxmlformats-officedocument.drawingml.chart+xml"/>
  <Override PartName="/ppt/slides/slide7.xml" ContentType="application/vnd.openxmlformats-officedocument.presentationml.slide+xml"/>
  <Override PartName="/ppt/charts/chart2364013ff6b.xml" ContentType="application/vnd.openxmlformats-officedocument.drawingml.chart+xml"/>
  <Override PartName="/ppt/slides/slide8.xml" ContentType="application/vnd.openxmlformats-officedocument.presentationml.slide+xml"/>
  <Override PartName="/ppt/charts/chart236467abaa0.xml" ContentType="application/vnd.openxmlformats-officedocument.drawingml.chart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Relationship Id="rId7" Type="http://schemas.openxmlformats.org/officeDocument/2006/relationships/slide" Target="slides/slide2.xml"/>
<Relationship Id="rId8" Type="http://schemas.openxmlformats.org/officeDocument/2006/relationships/slide" Target="slides/slide3.xml"/>
<Relationship Id="rId9" Type="http://schemas.openxmlformats.org/officeDocument/2006/relationships/slide" Target="slides/slide4.xml"/>
<Relationship Id="rId10" Type="http://schemas.openxmlformats.org/officeDocument/2006/relationships/slide" Target="slides/slide5.xml"/>
<Relationship Id="rId11" Type="http://schemas.openxmlformats.org/officeDocument/2006/relationships/slide" Target="slides/slide6.xml"/>
<Relationship Id="rId12" Type="http://schemas.openxmlformats.org/officeDocument/2006/relationships/slide" Target="slides/slide7.xml"/>
<Relationship Id="rId13" Type="http://schemas.openxmlformats.org/officeDocument/2006/relationships/slide" Target="slides/slide8.xml"/>
</Relationships>

</file>

<file path=ppt/charts/_rels/chart2365fa1d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3546e31d.xlsx"/></Relationships>

</file>

<file path=ppt/charts/_rels/chart23659c9ebf6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c60afad.xlsx"/></Relationships>

</file>

<file path=ppt/charts/_rels/chart236100d4bda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197dadd2.xlsx"/></Relationships>

</file>

<file path=ppt/charts/_rels/chart236377dabe7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347f220b.xlsx"/></Relationships>

</file>

<file path=ppt/charts/_rels/chart236467abaa0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5b42e5ca.xlsx"/></Relationships>

</file>

<file path=ppt/charts/_rels/chart2364013ff6b.xml.rels><?xml version="1.0" encoding="UTF-8" standalone="yes"?><Relationships xmlns="http://schemas.openxmlformats.org/package/2006/relationships"><Relationship Id="rId1" Type="http://schemas.openxmlformats.org/officeDocument/2006/relationships/package" Target="../embeddings/data23677863701.xlsx"/></Relationships>

</file>

<file path=ppt/charts/chart2365fa1d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Documentation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100.00000</c:v>
                </c:pt>
                <c:pt idx="1">
                  <c:v>100.00000</c:v>
                </c:pt>
                <c:pt idx="2">
                  <c:v>90.00000</c:v>
                </c:pt>
                <c:pt idx="3">
                  <c:v>100.00000</c:v>
                </c:pt>
                <c:pt idx="4">
                  <c:v>100.00000</c:v>
                </c:pt>
                <c:pt idx="5">
                  <c:v>100.00000</c:v>
                </c:pt>
                <c:pt idx="6">
                  <c:v>100.00000</c:v>
                </c:pt>
                <c:pt idx="7">
                  <c:v>100.00000</c:v>
                </c:pt>
                <c:pt idx="8">
                  <c:v>83.33333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97.03704</c:v>
                </c:pt>
                <c:pt idx="1">
                  <c:v>97.03704</c:v>
                </c:pt>
                <c:pt idx="2">
                  <c:v>97.03704</c:v>
                </c:pt>
                <c:pt idx="3">
                  <c:v>97.03704</c:v>
                </c:pt>
                <c:pt idx="4">
                  <c:v>97.03704</c:v>
                </c:pt>
                <c:pt idx="5">
                  <c:v>97.03704</c:v>
                </c:pt>
                <c:pt idx="6">
                  <c:v>97.03704</c:v>
                </c:pt>
                <c:pt idx="7">
                  <c:v>97.03704</c:v>
                </c:pt>
                <c:pt idx="8">
                  <c:v>97.03704</c:v>
                </c:pt>
                <c:pt idx="9">
                  <c:v>97.03704</c:v>
                </c:pt>
                <c:pt idx="10">
                  <c:v>97.03704</c:v>
                </c:pt>
                <c:pt idx="11">
                  <c:v>97.03704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114.3219</c:v>
                </c:pt>
                <c:pt idx="1">
                  <c:v>114.3219</c:v>
                </c:pt>
                <c:pt idx="2">
                  <c:v>114.3219</c:v>
                </c:pt>
                <c:pt idx="3">
                  <c:v>114.3219</c:v>
                </c:pt>
                <c:pt idx="4">
                  <c:v>114.3219</c:v>
                </c:pt>
                <c:pt idx="5">
                  <c:v>114.3219</c:v>
                </c:pt>
                <c:pt idx="6">
                  <c:v>114.3219</c:v>
                </c:pt>
                <c:pt idx="7">
                  <c:v>114.3219</c:v>
                </c:pt>
                <c:pt idx="8">
                  <c:v>114.3219</c:v>
                </c:pt>
                <c:pt idx="9">
                  <c:v>114.3219</c:v>
                </c:pt>
                <c:pt idx="10">
                  <c:v>114.3219</c:v>
                </c:pt>
                <c:pt idx="11">
                  <c:v>114.3219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79.7522</c:v>
                </c:pt>
                <c:pt idx="1">
                  <c:v>79.7522</c:v>
                </c:pt>
                <c:pt idx="2">
                  <c:v>79.7522</c:v>
                </c:pt>
                <c:pt idx="3">
                  <c:v>79.7522</c:v>
                </c:pt>
                <c:pt idx="4">
                  <c:v>79.7522</c:v>
                </c:pt>
                <c:pt idx="5">
                  <c:v>79.7522</c:v>
                </c:pt>
                <c:pt idx="6">
                  <c:v>79.7522</c:v>
                </c:pt>
                <c:pt idx="7">
                  <c:v>79.7522</c:v>
                </c:pt>
                <c:pt idx="8">
                  <c:v>79.7522</c:v>
                </c:pt>
                <c:pt idx="9">
                  <c:v>79.7522</c:v>
                </c:pt>
                <c:pt idx="10">
                  <c:v>79.7522</c:v>
                </c:pt>
                <c:pt idx="11">
                  <c:v>79.7522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30.00"/>
          <c:min val="7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59c9ebf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Timeliness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90.00000</c:v>
                </c:pt>
                <c:pt idx="1">
                  <c:v>100.00000</c:v>
                </c:pt>
                <c:pt idx="2">
                  <c:v>100.00000</c:v>
                </c:pt>
                <c:pt idx="3">
                  <c:v>100.00000</c:v>
                </c:pt>
                <c:pt idx="4">
                  <c:v>92.30769</c:v>
                </c:pt>
                <c:pt idx="5">
                  <c:v>100.00000</c:v>
                </c:pt>
                <c:pt idx="6">
                  <c:v>87.50000</c:v>
                </c:pt>
                <c:pt idx="7">
                  <c:v>90.00000</c:v>
                </c:pt>
                <c:pt idx="8">
                  <c:v>83.33333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93.68234</c:v>
                </c:pt>
                <c:pt idx="1">
                  <c:v>93.68234</c:v>
                </c:pt>
                <c:pt idx="2">
                  <c:v>93.68234</c:v>
                </c:pt>
                <c:pt idx="3">
                  <c:v>93.68234</c:v>
                </c:pt>
                <c:pt idx="4">
                  <c:v>93.68234</c:v>
                </c:pt>
                <c:pt idx="5">
                  <c:v>93.68234</c:v>
                </c:pt>
                <c:pt idx="6">
                  <c:v>93.68234</c:v>
                </c:pt>
                <c:pt idx="7">
                  <c:v>93.68234</c:v>
                </c:pt>
                <c:pt idx="8">
                  <c:v>93.68234</c:v>
                </c:pt>
                <c:pt idx="9">
                  <c:v>93.68234</c:v>
                </c:pt>
                <c:pt idx="10">
                  <c:v>93.68234</c:v>
                </c:pt>
                <c:pt idx="11">
                  <c:v>93.68234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111.9576</c:v>
                </c:pt>
                <c:pt idx="1">
                  <c:v>111.9576</c:v>
                </c:pt>
                <c:pt idx="2">
                  <c:v>111.9576</c:v>
                </c:pt>
                <c:pt idx="3">
                  <c:v>111.9576</c:v>
                </c:pt>
                <c:pt idx="4">
                  <c:v>111.9576</c:v>
                </c:pt>
                <c:pt idx="5">
                  <c:v>111.9576</c:v>
                </c:pt>
                <c:pt idx="6">
                  <c:v>111.9576</c:v>
                </c:pt>
                <c:pt idx="7">
                  <c:v>111.9576</c:v>
                </c:pt>
                <c:pt idx="8">
                  <c:v>111.9576</c:v>
                </c:pt>
                <c:pt idx="9">
                  <c:v>111.9576</c:v>
                </c:pt>
                <c:pt idx="10">
                  <c:v>111.9576</c:v>
                </c:pt>
                <c:pt idx="11">
                  <c:v>111.9576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75.40712</c:v>
                </c:pt>
                <c:pt idx="1">
                  <c:v>75.40712</c:v>
                </c:pt>
                <c:pt idx="2">
                  <c:v>75.40712</c:v>
                </c:pt>
                <c:pt idx="3">
                  <c:v>75.40712</c:v>
                </c:pt>
                <c:pt idx="4">
                  <c:v>75.40712</c:v>
                </c:pt>
                <c:pt idx="5">
                  <c:v>75.40712</c:v>
                </c:pt>
                <c:pt idx="6">
                  <c:v>75.40712</c:v>
                </c:pt>
                <c:pt idx="7">
                  <c:v>75.40712</c:v>
                </c:pt>
                <c:pt idx="8">
                  <c:v>75.40712</c:v>
                </c:pt>
                <c:pt idx="9">
                  <c:v>75.40712</c:v>
                </c:pt>
                <c:pt idx="10">
                  <c:v>75.40712</c:v>
                </c:pt>
                <c:pt idx="11">
                  <c:v>75.40712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20.00"/>
          <c:min val="6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100d4bda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Legibility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90.00000</c:v>
                </c:pt>
                <c:pt idx="1">
                  <c:v>64.28571</c:v>
                </c:pt>
                <c:pt idx="2">
                  <c:v>100.00000</c:v>
                </c:pt>
                <c:pt idx="3">
                  <c:v>91.66667</c:v>
                </c:pt>
                <c:pt idx="4">
                  <c:v>71.42857</c:v>
                </c:pt>
                <c:pt idx="5">
                  <c:v>77.77778</c:v>
                </c:pt>
                <c:pt idx="6">
                  <c:v>92.85714</c:v>
                </c:pt>
                <c:pt idx="7">
                  <c:v>100.00000</c:v>
                </c:pt>
                <c:pt idx="8">
                  <c:v>70.58824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84.28935</c:v>
                </c:pt>
                <c:pt idx="1">
                  <c:v>84.28935</c:v>
                </c:pt>
                <c:pt idx="2">
                  <c:v>84.28935</c:v>
                </c:pt>
                <c:pt idx="3">
                  <c:v>84.28935</c:v>
                </c:pt>
                <c:pt idx="4">
                  <c:v>84.28935</c:v>
                </c:pt>
                <c:pt idx="5">
                  <c:v>84.28935</c:v>
                </c:pt>
                <c:pt idx="6">
                  <c:v>84.28935</c:v>
                </c:pt>
                <c:pt idx="7">
                  <c:v>84.28935</c:v>
                </c:pt>
                <c:pt idx="8">
                  <c:v>84.28935</c:v>
                </c:pt>
                <c:pt idx="9">
                  <c:v>84.28935</c:v>
                </c:pt>
                <c:pt idx="10">
                  <c:v>84.28935</c:v>
                </c:pt>
                <c:pt idx="11">
                  <c:v>84.28935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122.365</c:v>
                </c:pt>
                <c:pt idx="1">
                  <c:v>122.365</c:v>
                </c:pt>
                <c:pt idx="2">
                  <c:v>122.365</c:v>
                </c:pt>
                <c:pt idx="3">
                  <c:v>122.365</c:v>
                </c:pt>
                <c:pt idx="4">
                  <c:v>122.365</c:v>
                </c:pt>
                <c:pt idx="5">
                  <c:v>122.365</c:v>
                </c:pt>
                <c:pt idx="6">
                  <c:v>122.365</c:v>
                </c:pt>
                <c:pt idx="7">
                  <c:v>122.365</c:v>
                </c:pt>
                <c:pt idx="8">
                  <c:v>122.365</c:v>
                </c:pt>
                <c:pt idx="9">
                  <c:v>122.365</c:v>
                </c:pt>
                <c:pt idx="10">
                  <c:v>122.365</c:v>
                </c:pt>
                <c:pt idx="11">
                  <c:v>122.365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46.21365</c:v>
                </c:pt>
                <c:pt idx="1">
                  <c:v>46.21365</c:v>
                </c:pt>
                <c:pt idx="2">
                  <c:v>46.21365</c:v>
                </c:pt>
                <c:pt idx="3">
                  <c:v>46.21365</c:v>
                </c:pt>
                <c:pt idx="4">
                  <c:v>46.21365</c:v>
                </c:pt>
                <c:pt idx="5">
                  <c:v>46.21365</c:v>
                </c:pt>
                <c:pt idx="6">
                  <c:v>46.21365</c:v>
                </c:pt>
                <c:pt idx="7">
                  <c:v>46.21365</c:v>
                </c:pt>
                <c:pt idx="8">
                  <c:v>46.21365</c:v>
                </c:pt>
                <c:pt idx="9">
                  <c:v>46.21365</c:v>
                </c:pt>
                <c:pt idx="10">
                  <c:v>46.21365</c:v>
                </c:pt>
                <c:pt idx="11">
                  <c:v>46.21365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40.00"/>
          <c:min val="2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2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377dabe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Completeness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70.00000</c:v>
                </c:pt>
                <c:pt idx="1">
                  <c:v>86.66667</c:v>
                </c:pt>
                <c:pt idx="2">
                  <c:v>73.68421</c:v>
                </c:pt>
                <c:pt idx="3">
                  <c:v>90.90909</c:v>
                </c:pt>
                <c:pt idx="4">
                  <c:v>64.28571</c:v>
                </c:pt>
                <c:pt idx="5">
                  <c:v>94.44444</c:v>
                </c:pt>
                <c:pt idx="6">
                  <c:v>75.00000</c:v>
                </c:pt>
                <c:pt idx="7">
                  <c:v>90.90909</c:v>
                </c:pt>
                <c:pt idx="8">
                  <c:v>82.35294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80.91691</c:v>
                </c:pt>
                <c:pt idx="1">
                  <c:v>80.91691</c:v>
                </c:pt>
                <c:pt idx="2">
                  <c:v>80.91691</c:v>
                </c:pt>
                <c:pt idx="3">
                  <c:v>80.91691</c:v>
                </c:pt>
                <c:pt idx="4">
                  <c:v>80.91691</c:v>
                </c:pt>
                <c:pt idx="5">
                  <c:v>80.91691</c:v>
                </c:pt>
                <c:pt idx="6">
                  <c:v>80.91691</c:v>
                </c:pt>
                <c:pt idx="7">
                  <c:v>80.91691</c:v>
                </c:pt>
                <c:pt idx="8">
                  <c:v>80.91691</c:v>
                </c:pt>
                <c:pt idx="9">
                  <c:v>80.91691</c:v>
                </c:pt>
                <c:pt idx="10">
                  <c:v>80.91691</c:v>
                </c:pt>
                <c:pt idx="11">
                  <c:v>80.91691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110.9319</c:v>
                </c:pt>
                <c:pt idx="1">
                  <c:v>110.9319</c:v>
                </c:pt>
                <c:pt idx="2">
                  <c:v>110.9319</c:v>
                </c:pt>
                <c:pt idx="3">
                  <c:v>110.9319</c:v>
                </c:pt>
                <c:pt idx="4">
                  <c:v>110.9319</c:v>
                </c:pt>
                <c:pt idx="5">
                  <c:v>110.9319</c:v>
                </c:pt>
                <c:pt idx="6">
                  <c:v>110.9319</c:v>
                </c:pt>
                <c:pt idx="7">
                  <c:v>110.9319</c:v>
                </c:pt>
                <c:pt idx="8">
                  <c:v>110.9319</c:v>
                </c:pt>
                <c:pt idx="9">
                  <c:v>110.9319</c:v>
                </c:pt>
                <c:pt idx="10">
                  <c:v>110.9319</c:v>
                </c:pt>
                <c:pt idx="11">
                  <c:v>110.9319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50.9019</c:v>
                </c:pt>
                <c:pt idx="1">
                  <c:v>50.9019</c:v>
                </c:pt>
                <c:pt idx="2">
                  <c:v>50.9019</c:v>
                </c:pt>
                <c:pt idx="3">
                  <c:v>50.9019</c:v>
                </c:pt>
                <c:pt idx="4">
                  <c:v>50.9019</c:v>
                </c:pt>
                <c:pt idx="5">
                  <c:v>50.9019</c:v>
                </c:pt>
                <c:pt idx="6">
                  <c:v>50.9019</c:v>
                </c:pt>
                <c:pt idx="7">
                  <c:v>50.9019</c:v>
                </c:pt>
                <c:pt idx="8">
                  <c:v>50.9019</c:v>
                </c:pt>
                <c:pt idx="9">
                  <c:v>50.9019</c:v>
                </c:pt>
                <c:pt idx="10">
                  <c:v>50.9019</c:v>
                </c:pt>
                <c:pt idx="11">
                  <c:v>50.9019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40.00"/>
          <c:min val="2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2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467abaa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Overall Documentation Compliance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40.00000</c:v>
                </c:pt>
                <c:pt idx="1">
                  <c:v>53.33333</c:v>
                </c:pt>
                <c:pt idx="2">
                  <c:v>60.00000</c:v>
                </c:pt>
                <c:pt idx="3">
                  <c:v>83.33333</c:v>
                </c:pt>
                <c:pt idx="4">
                  <c:v>28.57143</c:v>
                </c:pt>
                <c:pt idx="5">
                  <c:v>68.42105</c:v>
                </c:pt>
                <c:pt idx="6">
                  <c:v>68.75000</c:v>
                </c:pt>
                <c:pt idx="7">
                  <c:v>72.72727</c:v>
                </c:pt>
                <c:pt idx="8">
                  <c:v>55.55556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58.96578</c:v>
                </c:pt>
                <c:pt idx="1">
                  <c:v>58.96578</c:v>
                </c:pt>
                <c:pt idx="2">
                  <c:v>58.96578</c:v>
                </c:pt>
                <c:pt idx="3">
                  <c:v>58.96578</c:v>
                </c:pt>
                <c:pt idx="4">
                  <c:v>58.96578</c:v>
                </c:pt>
                <c:pt idx="5">
                  <c:v>58.96578</c:v>
                </c:pt>
                <c:pt idx="6">
                  <c:v>58.96578</c:v>
                </c:pt>
                <c:pt idx="7">
                  <c:v>58.96578</c:v>
                </c:pt>
                <c:pt idx="8">
                  <c:v>58.96578</c:v>
                </c:pt>
                <c:pt idx="9">
                  <c:v>58.96578</c:v>
                </c:pt>
                <c:pt idx="10">
                  <c:v>58.96578</c:v>
                </c:pt>
                <c:pt idx="11">
                  <c:v>58.96578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106.8848</c:v>
                </c:pt>
                <c:pt idx="1">
                  <c:v>106.8848</c:v>
                </c:pt>
                <c:pt idx="2">
                  <c:v>106.8848</c:v>
                </c:pt>
                <c:pt idx="3">
                  <c:v>106.8848</c:v>
                </c:pt>
                <c:pt idx="4">
                  <c:v>106.8848</c:v>
                </c:pt>
                <c:pt idx="5">
                  <c:v>106.8848</c:v>
                </c:pt>
                <c:pt idx="6">
                  <c:v>106.8848</c:v>
                </c:pt>
                <c:pt idx="7">
                  <c:v>106.8848</c:v>
                </c:pt>
                <c:pt idx="8">
                  <c:v>106.8848</c:v>
                </c:pt>
                <c:pt idx="9">
                  <c:v>106.8848</c:v>
                </c:pt>
                <c:pt idx="10">
                  <c:v>106.8848</c:v>
                </c:pt>
                <c:pt idx="11">
                  <c:v>106.8848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11.04677</c:v>
                </c:pt>
                <c:pt idx="1">
                  <c:v>11.04677</c:v>
                </c:pt>
                <c:pt idx="2">
                  <c:v>11.04677</c:v>
                </c:pt>
                <c:pt idx="3">
                  <c:v>11.04677</c:v>
                </c:pt>
                <c:pt idx="4">
                  <c:v>11.04677</c:v>
                </c:pt>
                <c:pt idx="5">
                  <c:v>11.04677</c:v>
                </c:pt>
                <c:pt idx="6">
                  <c:v>11.04677</c:v>
                </c:pt>
                <c:pt idx="7">
                  <c:v>11.04677</c:v>
                </c:pt>
                <c:pt idx="8">
                  <c:v>11.04677</c:v>
                </c:pt>
                <c:pt idx="9">
                  <c:v>11.04677</c:v>
                </c:pt>
                <c:pt idx="10">
                  <c:v>11.04677</c:v>
                </c:pt>
                <c:pt idx="11">
                  <c:v>11.04677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40.00"/>
          <c:min val="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2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charts/chart2364013ff6b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 xmlns:c="http://schemas.openxmlformats.org/drawingml/2006/chart" xmlns:a="http://schemas.openxmlformats.org/drawingml/2006/main" xmlns:r="http://schemas.openxmlformats.org/officeDocument/2006/relationships">
      <c:tx>
        <c:rich>
          <a:bodyPr/>
          <a:lstStyle/>
          <a:p>
            <a:pPr>
              <a:defRPr/>
            </a:pPr>
            <a:r>
              <a:rPr cap="none" sz="13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Compliance to Accuracy</a:t>
            </a:r>
          </a:p>
        </c:rich>
      </c:tx>
      <c:layout/>
      <c:overlay val="0"/>
    </c:title>
    <c:autoTitleDeleted val="0"/>
    <c:plotArea xmlns:c="http://schemas.openxmlformats.org/drawingml/2006/chart" xmlns:a="http://schemas.openxmlformats.org/drawingml/2006/main" xmlns:r="http://schemas.openxmlformats.org/officeDocument/2006/relationships"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Compliance (%)</c:v>
                </c:pt>
              </c:strCache>
            </c:strRef>
          </c:tx>
          <c:spPr>
            <a:ln algn="ctr" w="15875">
              <a:solidFill>
                <a:srgbClr val="1F4E79">
                  <a:alpha val="100000"/>
                </a:srgbClr>
              </a:solidFill>
              <a:prstDash val="solid"/>
            </a:ln>
          </c:spPr>
          <c:marker>
            <c:symbol val="circle"/>
            <c:size val="6"/>
            <c:spPr>
              <a:solidFill>
                <a:srgbClr val="1F4E79">
                  <a:alpha val="100000"/>
                </a:srgbClr>
              </a:solidFill>
              <a:ln>
                <a:solidFill>
                  <a:srgbClr val="1F4E79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ptCount val="12"/>
                <c:pt idx="0">
                  <c:v>87.50000</c:v>
                </c:pt>
                <c:pt idx="1">
                  <c:v>86.66667</c:v>
                </c:pt>
                <c:pt idx="2">
                  <c:v>90.00000</c:v>
                </c:pt>
                <c:pt idx="3">
                  <c:v>100.00000</c:v>
                </c:pt>
                <c:pt idx="4">
                  <c:v>92.30769</c:v>
                </c:pt>
                <c:pt idx="5">
                  <c:v>94.73684</c:v>
                </c:pt>
                <c:pt idx="6">
                  <c:v>100.00000</c:v>
                </c:pt>
                <c:pt idx="7">
                  <c:v>90.90909</c:v>
                </c:pt>
                <c:pt idx="8">
                  <c:v>94.11765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algn="ctr" w="12700">
              <a:solidFill>
                <a:srgbClr val="ED7D31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ED7D31">
                  <a:alpha val="100000"/>
                </a:srgbClr>
              </a:solidFill>
              <a:ln>
                <a:solidFill>
                  <a:srgbClr val="ED7D31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ptCount val="12"/>
                <c:pt idx="0">
                  <c:v>95</c:v>
                </c:pt>
                <c:pt idx="1">
                  <c:v>95</c:v>
                </c:pt>
                <c:pt idx="2">
                  <c:v>95</c:v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  <c:pt idx="7">
                  <c:v>95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Average</c:v>
                </c:pt>
              </c:strCache>
            </c:strRef>
          </c:tx>
          <c:spPr>
            <a:ln algn="ctr" w="12700">
              <a:solidFill>
                <a:srgbClr val="54823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48235">
                  <a:alpha val="100000"/>
                </a:srgbClr>
              </a:solidFill>
              <a:ln>
                <a:solidFill>
                  <a:srgbClr val="54823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sheet1!$D$2:$D$13</c:f>
              <c:numCache>
                <c:ptCount val="12"/>
                <c:pt idx="0">
                  <c:v>92.91533</c:v>
                </c:pt>
                <c:pt idx="1">
                  <c:v>92.91533</c:v>
                </c:pt>
                <c:pt idx="2">
                  <c:v>92.91533</c:v>
                </c:pt>
                <c:pt idx="3">
                  <c:v>92.91533</c:v>
                </c:pt>
                <c:pt idx="4">
                  <c:v>92.91533</c:v>
                </c:pt>
                <c:pt idx="5">
                  <c:v>92.91533</c:v>
                </c:pt>
                <c:pt idx="6">
                  <c:v>92.91533</c:v>
                </c:pt>
                <c:pt idx="7">
                  <c:v>92.91533</c:v>
                </c:pt>
                <c:pt idx="8">
                  <c:v>92.91533</c:v>
                </c:pt>
                <c:pt idx="9">
                  <c:v>92.91533</c:v>
                </c:pt>
                <c:pt idx="10">
                  <c:v>92.91533</c:v>
                </c:pt>
                <c:pt idx="11">
                  <c:v>92.91533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UCL (3 SD)</c:v>
                </c:pt>
              </c:strCache>
            </c:strRef>
          </c:tx>
          <c:spPr>
            <a:ln algn="ctr" w="12700">
              <a:solidFill>
                <a:srgbClr val="5B9BD5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5B9BD5">
                  <a:alpha val="100000"/>
                </a:srgbClr>
              </a:solidFill>
              <a:ln>
                <a:solidFill>
                  <a:srgbClr val="5B9BD5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sheet1!$E$2:$E$13</c:f>
              <c:numCache>
                <c:ptCount val="12"/>
                <c:pt idx="0">
                  <c:v>106.5687</c:v>
                </c:pt>
                <c:pt idx="1">
                  <c:v>106.5687</c:v>
                </c:pt>
                <c:pt idx="2">
                  <c:v>106.5687</c:v>
                </c:pt>
                <c:pt idx="3">
                  <c:v>106.5687</c:v>
                </c:pt>
                <c:pt idx="4">
                  <c:v>106.5687</c:v>
                </c:pt>
                <c:pt idx="5">
                  <c:v>106.5687</c:v>
                </c:pt>
                <c:pt idx="6">
                  <c:v>106.5687</c:v>
                </c:pt>
                <c:pt idx="7">
                  <c:v>106.5687</c:v>
                </c:pt>
                <c:pt idx="8">
                  <c:v>106.5687</c:v>
                </c:pt>
                <c:pt idx="9">
                  <c:v>106.5687</c:v>
                </c:pt>
                <c:pt idx="10">
                  <c:v>106.5687</c:v>
                </c:pt>
                <c:pt idx="11">
                  <c:v>106.5687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LCL (3 SD)</c:v>
                </c:pt>
              </c:strCache>
            </c:strRef>
          </c:tx>
          <c:spPr>
            <a:ln algn="ctr" w="12700">
              <a:solidFill>
                <a:srgbClr val="7030A0">
                  <a:alpha val="100000"/>
                </a:srgbClr>
              </a:solidFill>
              <a:prstDash val="solid"/>
            </a:ln>
          </c:spPr>
          <c:marker>
            <c:symbol val="none"/>
            <c:size val="6"/>
            <c:spPr>
              <a:solidFill>
                <a:srgbClr val="7030A0">
                  <a:alpha val="100000"/>
                </a:srgbClr>
              </a:solidFill>
              <a:ln>
                <a:solidFill>
                  <a:srgbClr val="7030A0">
                    <a:alpha val="100000"/>
                  </a:srgbClr>
                </a:solidFill>
              </a:ln>
              <a:effectLst/>
            </c:spPr>
          </c:marker>
          <c:dLbls>
            <c:numFmt formatCode="General" sourceLinked="0"/>
            <c:txPr>
              <a:bodyPr/>
              <a:lstStyle/>
              <a:p>
                <a:pPr>
                  <a:defRPr cap="none" i="0" b="0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eparator val=", "/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sheet1!$F$2:$F$13</c:f>
              <c:numCache>
                <c:ptCount val="12"/>
                <c:pt idx="0">
                  <c:v>79.26199</c:v>
                </c:pt>
                <c:pt idx="1">
                  <c:v>79.26199</c:v>
                </c:pt>
                <c:pt idx="2">
                  <c:v>79.26199</c:v>
                </c:pt>
                <c:pt idx="3">
                  <c:v>79.26199</c:v>
                </c:pt>
                <c:pt idx="4">
                  <c:v>79.26199</c:v>
                </c:pt>
                <c:pt idx="5">
                  <c:v>79.26199</c:v>
                </c:pt>
                <c:pt idx="6">
                  <c:v>79.26199</c:v>
                </c:pt>
                <c:pt idx="7">
                  <c:v>79.26199</c:v>
                </c:pt>
                <c:pt idx="8">
                  <c:v>79.26199</c:v>
                </c:pt>
                <c:pt idx="9">
                  <c:v>79.26199</c:v>
                </c:pt>
                <c:pt idx="10">
                  <c:v>79.26199</c:v>
                </c:pt>
                <c:pt idx="11">
                  <c:v>79.26199</c:v>
                </c:pt>
              </c:numCache>
            </c:numRef>
          </c:val>
          <c:smooth val="0"/>
        </c:ser>
        <c:dLbls>
          <c:numFmt formatCode="General" sourceLinked="0"/>
          <c:dLblPos val="ctr"/>
          <c:showLegendKey val="0"/>
          <c:showVal val="0"/>
          <c:showCatName val="0"/>
          <c:showSerName val="0"/>
          <c:showPercent val="0"/>
          <c:showBubbleSize val="0"/>
          <c:separator val=", "/>
        </c:dLbls>
        <c:axId val="64451712"/>
        <c:axId val="64453248"/>
      </c:lineChart>
      <c:catAx>
        <c:axId val="644517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General" sourceLinked="0"/>
        <c:crossAx val="64453248"/>
        <c:crosses val="autoZero"/>
      </c:catAx>
      <c:valAx>
        <c:axId val="64453248"/>
        <c:scaling>
          <c:orientation val="minMax"/>
          <c:max val="120.00"/>
          <c:min val="70.00"/>
        </c:scaling>
        <c:delete val="0"/>
        <c:axPos val="l"/>
        <c:majorGridlines>
          <c:spPr>
            <a:ln algn="ctr" w="6350">
              <a:solidFill>
                <a:srgbClr val="D9D9D9">
                  <a:alpha val="100000"/>
                </a:srgbClr>
              </a:solidFill>
              <a:prstDash val="solid"/>
            </a:ln>
          </c:spPr>
        </c:majorGridlines>
        <c:minorGridlines>
          <c:spPr>
            <a:ln>
              <a:noFill/>
            </a:ln>
          </c:spPr>
        </c:minorGridlines>
        <c:title>
          <c:tx>
            <c:rich>
              <a:bodyPr rot="16200000" vert="horz" anchor="ctr"/>
              <a:lstStyle/>
              <a:p>
                <a:pPr>
                  <a:defRPr/>
                </a:pPr>
                <a:r>
                  <a:rPr cap="none" sz="1600" i="0" b="1" u="none" strike="noStrike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  <a:ea typeface="Arial"/>
                    <a:sym typeface="Arial"/>
                  </a:rPr>
                  <a:t/>
                </a:r>
              </a:p>
            </c:rich>
          </c:tx>
          <c:layout/>
          <c:overlay val="0"/>
        </c:title>
        <c:majorTickMark val="cross"/>
        <c:minorTickMark val="none"/>
        <c:tickLblPos val="nextTo"/>
        <c:txPr>
          <a:bodyPr rot="0" vert="horz"/>
          <a:lstStyle/>
          <a:p>
            <a:pPr>
              <a:defRPr cap="none" sz="900" i="0" b="0" u="none" strike="noStrike">
                <a:solidFill>
                  <a:srgbClr val="595959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defRPr>
            </a:pPr>
          </a:p>
        </c:txPr>
        <c:spPr>
          <a:ln>
            <a:noFill/>
          </a:ln>
        </c:spPr>
        <c:numFmt formatCode="0" sourceLinked="0"/>
        <c:crossAx val="64451712"/>
        <c:crosses val="autoZero"/>
        <c:majorUnit val="10"/>
      </c:valAx>
      <c:spPr/>
    </c:plotArea>
    <c:legend>
      <c:legendPos val="b"/>
      <c:layout/>
      <c:overlay val="0"/>
      <c:txPr xmlns:c="http://schemas.openxmlformats.org/drawingml/2006/chart" xmlns:a="http://schemas.openxmlformats.org/drawingml/2006/main">
        <a:bodyPr/>
        <a:lstStyle/>
        <a:p>
          <a:pPr>
            <a:defRPr cap="none" sz="900" i="0" b="0" u="none" strike="noStrike">
              <a:solidFill>
                <a:srgbClr val="595959">
                  <a:alpha val="100000"/>
                </a:srgbClr>
              </a:solidFill>
              <a:latin typeface="Arial"/>
              <a:cs typeface="Arial"/>
              <a:ea typeface="Arial"/>
              <a:sym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fr-FR"/>
    </a:p>
  </c:txPr>
  <c:externalData r:id="rId1">
    <c:autoUpdate val="0"/>
  </c:externalData>
  <c:spPr xmlns:c="http://schemas.openxmlformats.org/drawingml/2006/chart" xmlns:a="http://schemas.openxmlformats.org/drawingml/2006/main" xmlns:r="http://schemas.openxmlformats.org/officeDocument/2006/relationships"/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r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78151" y="628072"/>
            <a:ext cx="1356758" cy="1275353"/>
          </a:xfrm>
          <a:prstGeom prst="rect">
            <a:avLst/>
          </a:prstGeom>
        </p:spPr>
      </p:pic>
      <p:sp>
        <p:nvSpPr>
          <p:cNvPr id="3" name="Name box"/>
          <p:cNvSpPr/>
          <p:nvPr userDrawn="1"/>
        </p:nvSpPr>
        <p:spPr>
          <a:xfrm>
            <a:off x="1458468" y="2358238"/>
            <a:ext cx="9274759" cy="1232611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facility"/>
          <p:cNvSpPr>
            <a:spLocks noGrp="1"/>
          </p:cNvSpPr>
          <p:nvPr>
            <p:ph type="body" idx="10"/>
          </p:nvPr>
        </p:nvSpPr>
        <p:spPr>
          <a:xfrm>
            <a:off x="1549908" y="2403958"/>
            <a:ext cx="9091879" cy="1141171"/>
          </a:xfrm>
        </p:spPr>
        <p:txBody>
          <a:bodyPr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3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HOSPITAL NAME</a:t>
            </a:r>
          </a:p>
        </p:txBody>
      </p:sp>
      <p:sp>
        <p:nvSpPr>
          <p:cNvPr id="5" name="ph_deck_title"/>
          <p:cNvSpPr>
            <a:spLocks noGrp="1"/>
          </p:cNvSpPr>
          <p:nvPr>
            <p:ph type="ctrTitle"/>
          </p:nvPr>
        </p:nvSpPr>
        <p:spPr>
          <a:xfrm>
            <a:off x="1524305" y="3739896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Deck title</a:t>
            </a:r>
          </a:p>
        </p:txBody>
      </p:sp>
      <p:sp>
        <p:nvSpPr>
          <p:cNvPr id="6" name="ph_subtitle"/>
          <p:cNvSpPr>
            <a:spLocks noGrp="1"/>
          </p:cNvSpPr>
          <p:nvPr>
            <p:ph type="body" idx="11"/>
          </p:nvPr>
        </p:nvSpPr>
        <p:spPr>
          <a:xfrm>
            <a:off x="1524305" y="4032504"/>
            <a:ext cx="9144000" cy="274320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6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Unit (when one deck per unit)</a:t>
            </a:r>
          </a:p>
        </p:txBody>
      </p:sp>
      <p:sp>
        <p:nvSpPr>
          <p:cNvPr id="7" name="ph_period"/>
          <p:cNvSpPr>
            <a:spLocks noGrp="1"/>
          </p:cNvSpPr>
          <p:nvPr>
            <p:ph type="body" idx="12"/>
          </p:nvPr>
        </p:nvSpPr>
        <p:spPr>
          <a:xfrm>
            <a:off x="1524305" y="4306824"/>
            <a:ext cx="9144000" cy="292608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8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period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Indicator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dicators heading"/>
          <p:cNvSpPr txBox="1"/>
          <p:nvPr userDrawn="1"/>
        </p:nvSpPr>
        <p:spPr>
          <a:xfrm>
            <a:off x="837590" y="208483"/>
            <a:ext cx="5486400" cy="46177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2400" b="1" i="0">
                <a:solidFill>
                  <a:srgbClr val="7F7F7F"/>
                </a:solidFill>
                <a:latin typeface="Arial"/>
                <a:cs typeface="Arial"/>
              </a:rPr>
              <a:t>Indicators:</a:t>
            </a:r>
          </a:p>
        </p:txBody>
      </p:sp>
      <p:sp>
        <p:nvSpPr>
          <p:cNvPr id="3" name="List box"/>
          <p:cNvSpPr/>
          <p:nvPr userDrawn="1"/>
        </p:nvSpPr>
        <p:spPr>
          <a:xfrm>
            <a:off x="746150" y="670255"/>
            <a:ext cx="10972800" cy="5980176"/>
          </a:xfrm>
          <a:prstGeom prst="rect">
            <a:avLst/>
          </a:prstGeom>
          <a:solidFill>
            <a:srgbClr val="FFFFFF"/>
          </a:solidFill>
          <a:ln w="28575">
            <a:solidFill>
              <a:srgbClr val="1F4E79"/>
            </a:solidFill>
          </a:ln>
        </p:spPr>
      </p:sp>
      <p:sp>
        <p:nvSpPr>
          <p:cNvPr id="4" name="ph_indicator_list"/>
          <p:cNvSpPr>
            <a:spLocks noGrp="1"/>
          </p:cNvSpPr>
          <p:nvPr>
            <p:ph type="body" idx="10"/>
          </p:nvPr>
        </p:nvSpPr>
        <p:spPr>
          <a:xfrm>
            <a:off x="837590" y="715975"/>
            <a:ext cx="10789920" cy="5888736"/>
          </a:xfrm>
        </p:spPr>
        <p:txBody>
          <a:bodyPr wrap="square" lIns="0" tIns="0" rIns="0" bIns="0" anchor="t">
            <a:normAutofit/>
          </a:bodyPr>
          <a:lstStyle>
            <a:lvl1pPr marL="909320" indent="-34290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lang="en-GB" sz="14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titles (filled by R)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KPI Indic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26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Indicator title</a:t>
            </a:r>
          </a:p>
        </p:txBody>
      </p:sp>
      <p:sp>
        <p:nvSpPr>
          <p:cNvPr id="3" name="Header box"/>
          <p:cNvSpPr/>
          <p:nvPr userDrawn="1"/>
        </p:nvSpPr>
        <p:spPr>
          <a:xfrm>
            <a:off x="219456" y="640080"/>
            <a:ext cx="11759184" cy="109728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4" name="Header divider"/>
          <p:cNvCxnSpPr/>
          <p:nvPr userDrawn="1"/>
        </p:nvCxnSpPr>
        <p:spPr>
          <a:xfrm>
            <a:off x="3749040" y="640080"/>
            <a:ext cx="0" cy="109728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Measure: …</a:t>
            </a:r>
          </a:p>
        </p:txBody>
      </p:sp>
      <p:sp>
        <p:nvSpPr>
          <p:cNvPr id="6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Target: …</a:t>
            </a:r>
          </a:p>
        </p:txBody>
      </p:sp>
      <p:sp>
        <p:nvSpPr>
          <p:cNvPr id="7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Reporting schedule: …</a:t>
            </a:r>
          </a:p>
        </p:txBody>
      </p:sp>
      <p:sp>
        <p:nvSpPr>
          <p:cNvPr id="8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Definition: …</a:t>
            </a:r>
          </a:p>
        </p:txBody>
      </p:sp>
      <p:sp>
        <p:nvSpPr>
          <p:cNvPr id="9" name="Numerator label"/>
          <p:cNvSpPr txBox="1"/>
          <p:nvPr userDrawn="1"/>
        </p:nvSpPr>
        <p:spPr>
          <a:xfrm>
            <a:off x="3822192" y="1097280"/>
            <a:ext cx="1005840" cy="219456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Numerator:</a:t>
            </a:r>
          </a:p>
        </p:txBody>
      </p:sp>
      <p:sp>
        <p:nvSpPr>
          <p:cNvPr id="10" name="Denominator label"/>
          <p:cNvSpPr txBox="1"/>
          <p:nvPr userDrawn="1"/>
        </p:nvSpPr>
        <p:spPr>
          <a:xfrm>
            <a:off x="3822192" y="1353312"/>
            <a:ext cx="1097280" cy="2194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lang="en-GB" sz="1100" b="1" i="0">
                <a:solidFill>
                  <a:srgbClr val="000000"/>
                </a:solidFill>
                <a:latin typeface="Arial"/>
                <a:cs typeface="Arial"/>
              </a:rPr>
              <a:t>Denominator:</a:t>
            </a:r>
          </a:p>
        </p:txBody>
      </p:sp>
      <p:sp>
        <p:nvSpPr>
          <p:cNvPr id="11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6949440" cy="219456"/>
          </a:xfrm>
        </p:spPr>
        <p:txBody>
          <a:bodyPr wrap="square" lIns="0" tIns="0" rIns="0" bIns="0"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Numerator definition × 100%</a:t>
            </a:r>
          </a:p>
        </p:txBody>
      </p:sp>
      <p:sp>
        <p:nvSpPr>
          <p:cNvPr id="12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6949440" cy="219456"/>
          </a:xfrm>
        </p:spPr>
        <p:txBody>
          <a:bodyPr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Denominator definition</a:t>
            </a:r>
          </a:p>
        </p:txBody>
      </p:sp>
      <p:sp>
        <p:nvSpPr>
          <p:cNvPr id="13" name="ph_table"/>
          <p:cNvSpPr>
            <a:spLocks noGrp="1"/>
          </p:cNvSpPr>
          <p:nvPr>
            <p:ph type="tbl" idx="16"/>
          </p:nvPr>
        </p:nvSpPr>
        <p:spPr>
          <a:xfrm>
            <a:off x="219456" y="1737360"/>
            <a:ext cx="11759184" cy="1298448"/>
          </a:xfrm>
        </p:spPr>
        <p:txBody>
          <a:bodyPr/>
          <a:lstStyle/>
          <a:p>
            <a:r>
              <a:rPr lang="en-GB"/>
              <a:t>Monthly table (filled by R)</a:t>
            </a:r>
          </a:p>
        </p:txBody>
      </p:sp>
      <p:sp>
        <p:nvSpPr>
          <p:cNvPr id="14" name="Bottom box"/>
          <p:cNvSpPr/>
          <p:nvPr userDrawn="1"/>
        </p:nvSpPr>
        <p:spPr>
          <a:xfrm>
            <a:off x="219456" y="3035808"/>
            <a:ext cx="11759184" cy="3227832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</p:sp>
      <p:cxnSp>
        <p:nvCxnSpPr>
          <p:cNvPr id="15" name="Bottom divider"/>
          <p:cNvCxnSpPr/>
          <p:nvPr userDrawn="1"/>
        </p:nvCxnSpPr>
        <p:spPr>
          <a:xfrm>
            <a:off x="4572000" y="3035808"/>
            <a:ext cx="0" cy="3227832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6" name="Analysis label"/>
          <p:cNvSpPr txBox="1"/>
          <p:nvPr userDrawn="1"/>
        </p:nvSpPr>
        <p:spPr>
          <a:xfrm>
            <a:off x="292608" y="3090672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Analysis:</a:t>
            </a:r>
          </a:p>
        </p:txBody>
      </p:sp>
      <p:sp>
        <p:nvSpPr>
          <p:cNvPr id="17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800" b="0" i="1">
                <a:solidFill>
                  <a:srgbClr val="7F7F7F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(auto-drafted note)</a:t>
            </a:r>
          </a:p>
        </p:txBody>
      </p:sp>
      <p:sp>
        <p:nvSpPr>
          <p:cNvPr id="18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analysis</a:t>
            </a:r>
          </a:p>
        </p:txBody>
      </p:sp>
      <p:sp>
        <p:nvSpPr>
          <p:cNvPr id="19" name="Action label"/>
          <p:cNvSpPr txBox="1"/>
          <p:nvPr userDrawn="1"/>
        </p:nvSpPr>
        <p:spPr>
          <a:xfrm>
            <a:off x="292608" y="4718304"/>
            <a:ext cx="822960" cy="2377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GB" sz="1050" b="1" i="0" u="sng">
                <a:solidFill>
                  <a:srgbClr val="000000"/>
                </a:solidFill>
                <a:latin typeface="Arial"/>
                <a:cs typeface="Arial"/>
              </a:rPr>
              <a:t>Action:</a:t>
            </a:r>
          </a:p>
        </p:txBody>
      </p:sp>
      <p:sp>
        <p:nvSpPr>
          <p:cNvPr id="20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 wrap="square" lIns="0" tIns="0" rIns="0" bIns="0" anchor="t">
            <a:normAutofit/>
          </a:bodyPr>
          <a:lstStyle>
            <a:lvl1pPr marL="228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/>
              <a:buAutoNum type="arabicPeriod"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Click to add actions</a:t>
            </a:r>
          </a:p>
        </p:txBody>
      </p:sp>
      <p:sp>
        <p:nvSpPr>
          <p:cNvPr id="21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Data Provider: …</a:t>
            </a:r>
          </a:p>
        </p:txBody>
      </p:sp>
      <p:sp>
        <p:nvSpPr>
          <p:cNvPr id="22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050" b="0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Responsible: …</a:t>
            </a:r>
          </a:p>
        </p:txBody>
      </p:sp>
      <p:sp>
        <p:nvSpPr>
          <p:cNvPr id="23" name="ph_chart"/>
          <p:cNvSpPr>
            <a:spLocks noGrp="1"/>
          </p:cNvSpPr>
          <p:nvPr>
            <p:ph type="chart" idx="22"/>
          </p:nvPr>
        </p:nvSpPr>
        <p:spPr>
          <a:xfrm>
            <a:off x="4626864" y="3081528"/>
            <a:ext cx="7296912" cy="3136392"/>
          </a:xfrm>
        </p:spPr>
        <p:txBody>
          <a:bodyPr/>
          <a:lstStyle/>
          <a:p>
            <a:r>
              <a:rPr lang="en-GB"/>
              <a:t>Control chart (filled by R)</a:t>
            </a:r>
          </a:p>
        </p:txBody>
      </p:sp>
      <p:pic>
        <p:nvPicPr>
          <p:cNvPr id="24" name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032" y="6409944"/>
            <a:ext cx="272374" cy="256032"/>
          </a:xfrm>
          <a:prstGeom prst="rect">
            <a:avLst/>
          </a:prstGeom>
        </p:spPr>
      </p:pic>
      <p:sp>
        <p:nvSpPr>
          <p:cNvPr id="25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GB" sz="1100" b="1" i="0">
                <a:solidFill>
                  <a:srgbClr val="000000"/>
                </a:solidFill>
                <a:latin typeface="Arial"/>
                <a:cs typeface="Arial"/>
              </a:defRPr>
            </a:lvl1pPr>
          </a:lstStyle>
          <a:p>
            <a:r>
              <a:rPr lang="en-GB"/>
              <a:t>Organisation name</a:t>
            </a:r>
          </a:p>
        </p:txBody>
      </p:sp>
      <p:sp>
        <p:nvSpPr>
          <p:cNvPr id="26" name="Red bar"/>
          <p:cNvSpPr/>
          <p:nvPr userDrawn="1"/>
        </p:nvSpPr>
        <p:spPr>
          <a:xfrm>
            <a:off x="0" y="6739128"/>
            <a:ext cx="12191970" cy="121890"/>
          </a:xfrm>
          <a:prstGeom prst="rect">
            <a:avLst/>
          </a:prstGeom>
          <a:solidFill>
            <a:srgbClr val="1F4E79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PI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5fa1d25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59c9ebf6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100d4bda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377dabe7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4013ff6b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chart" Target="../charts/chart236467abaa0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facility"/>
          <p:cNvSpPr>
            <a:spLocks noGrp="1"/>
          </p:cNvSpPr>
          <p:nvPr>
            <p:ph type="body" idx="10"/>
          </p:nvPr>
        </p:nvSpPr>
        <p:spPr>
          <a:xfrm>
            <a:off x="1549908" y="2403958"/>
            <a:ext cx="9091879" cy="1141171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6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MJI MPYA REFERRAL HOSPITAL</a:t>
            </a:r>
          </a:p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Dodoma</a:t>
            </a:r>
          </a:p>
        </p:txBody>
      </p:sp>
      <p:sp>
        <p:nvSpPr>
          <p:cNvPr id="3" name="ph_deck_title"/>
          <p:cNvSpPr>
            <a:spLocks noGrp="1"/>
          </p:cNvSpPr>
          <p:nvPr>
            <p:ph type="ctrTitle"/>
          </p:nvPr>
        </p:nvSpPr>
        <p:spPr>
          <a:xfrm>
            <a:off x="1524305" y="3739896"/>
            <a:ext cx="9144000" cy="292608"/>
          </a:xfrm>
        </p:spPr>
        <p:txBody>
          <a:bodyPr/>
          <a:lstStyle/>
          <a:p>
            <a:r>
              <a:rPr/>
              <a:t>Medical Records Documentation Audit</a:t>
            </a:r>
          </a:p>
        </p:txBody>
      </p:sp>
      <p:sp>
        <p:nvSpPr>
          <p:cNvPr id="4" name="ph_subtitle"/>
          <p:cNvSpPr>
            <a:spLocks noGrp="1"/>
          </p:cNvSpPr>
          <p:nvPr>
            <p:ph type="body" idx="11"/>
          </p:nvPr>
        </p:nvSpPr>
        <p:spPr>
          <a:xfrm>
            <a:off x="1524305" y="4032504"/>
            <a:ext cx="9144000" cy="274320"/>
          </a:xfrm>
        </p:spPr>
        <p:txBody>
          <a:bodyPr/>
          <a:lstStyle/>
          <a:p>
            <a:r>
              <a:rPr/>
              <a:t>Surgical Ward</a:t>
            </a:r>
          </a:p>
        </p:txBody>
      </p:sp>
      <p:sp>
        <p:nvSpPr>
          <p:cNvPr id="5" name="ph_period"/>
          <p:cNvSpPr>
            <a:spLocks noGrp="1"/>
          </p:cNvSpPr>
          <p:nvPr>
            <p:ph type="body" idx="12"/>
          </p:nvPr>
        </p:nvSpPr>
        <p:spPr>
          <a:xfrm>
            <a:off x="1524305" y="4306824"/>
            <a:ext cx="9144000" cy="292608"/>
          </a:xfrm>
        </p:spPr>
        <p:txBody>
          <a:bodyPr/>
          <a:lstStyle/>
          <a:p>
            <a:r>
              <a:rPr/>
              <a:t>Q1 - 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indicator_list"/>
          <p:cNvSpPr>
            <a:spLocks noGrp="1"/>
          </p:cNvSpPr>
          <p:nvPr>
            <p:ph type="body" idx="10"/>
          </p:nvPr>
        </p:nvSpPr>
        <p:spPr>
          <a:xfrm>
            <a:off x="837590" y="715975"/>
            <a:ext cx="10789920" cy="5888736"/>
          </a:xfrm>
        </p:spPr>
        <p:txBody>
          <a:bodyPr/>
          <a:lstStyle/>
          <a:p>
            <a:r>
              <a:rPr sz="1400"/>
              <a:t>Documentation</a:t>
            </a:r>
          </a:p>
          <a:p>
            <a:r>
              <a:rPr sz="1400"/>
              <a:t>Timeliness</a:t>
            </a:r>
          </a:p>
          <a:p>
            <a:r>
              <a:rPr sz="1400"/>
              <a:t>Legibility</a:t>
            </a:r>
          </a:p>
          <a:p>
            <a:r>
              <a:rPr sz="1400"/>
              <a:t>Completeness</a:t>
            </a:r>
          </a:p>
          <a:p>
            <a:r>
              <a:rPr sz="1400"/>
              <a:t>Accuracy</a:t>
            </a:r>
          </a:p>
          <a:p>
            <a:r>
              <a:rPr sz="1400"/>
              <a:t>Overall Documentation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Documentation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Documentation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in which the required entries are documented.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3877437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with required entries documented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3877437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3877437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93.2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83.3% (15/18), below the 95% target; down from 100.0% in Aug.</a:t>
            </a:r>
          </a:p>
          <a:p>
            <a:r>
              <a:rPr sz="1050"/>
              <a:t>Target met in 7 of 9 months reported.</a:t>
            </a:r>
          </a:p>
          <a:p>
            <a:r>
              <a:rPr sz="1050"/>
              <a:t>Q3 rate 93.2% vs Q2 100.0%.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Timeliness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Timeliness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with entries made within the required timeframe.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922168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with timely entries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922168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922168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97.7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83.3% (15/18), below the 95% target; down from 90.0% in Aug.</a:t>
            </a:r>
          </a:p>
          <a:p>
            <a:r>
              <a:rPr sz="1050"/>
              <a:t>Target met in 4 of 9 months reported.</a:t>
            </a:r>
          </a:p>
          <a:p>
            <a:r>
              <a:rPr sz="1050"/>
              <a:t>Q3 rate 86.4% vs Q2 97.7%.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 sz="1050"/>
              <a:t>Re-orient ward staff on documentation timelines at the monthly unit meeting.</a:t>
            </a:r>
          </a:p>
          <a:p>
            <a:r>
              <a:rPr sz="1050"/>
              <a:t>Nurse In-Charge to spot-check 5 records weekly.</a:t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Legibility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Legibility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in which all entries are legible.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958351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with legible entries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958351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958351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91.7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71.4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77.8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79.5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85.4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70.6% (12/17), below the 95% target; down from 100.0% in Aug.</a:t>
            </a:r>
          </a:p>
          <a:p>
            <a:r>
              <a:rPr sz="1050"/>
              <a:t>Target met in 2 of 9 months reported.</a:t>
            </a:r>
          </a:p>
          <a:p>
            <a:r>
              <a:rPr sz="1050"/>
              <a:t>Q3 rate 85.4% vs Q2 79.5%.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Completeness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Completeness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with all required fields completed.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376780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complete records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376780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376780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73.7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75.0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82.4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77.3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81.8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82.4% (14/17), below the 95% target; down from 90.9% in Aug.</a:t>
            </a:r>
          </a:p>
          <a:p>
            <a:r>
              <a:rPr sz="1050"/>
              <a:t>Target met in 0 of 9 months reported.</a:t>
            </a:r>
          </a:p>
          <a:p>
            <a:r>
              <a:rPr sz="1050"/>
              <a:t>Q3 rate 81.8% vs Q2 83.7%.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Accuracy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Accuracy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whose entries are accurate.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344369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accurate records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344369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344369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87.5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86.7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92.3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90.9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94.1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95.5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94.1% (16/17), below the 95% target; up from 90.9% in Aug.</a:t>
            </a:r>
          </a:p>
          <a:p>
            <a:r>
              <a:rPr sz="1050"/>
              <a:t>Target met in 2 of 9 months reported.</a:t>
            </a:r>
          </a:p>
          <a:p>
            <a:r>
              <a:rPr sz="1050"/>
              <a:t>Q3 rate 95.5% vs Q2 95.5%.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"/>
          <p:cNvSpPr>
            <a:spLocks noGrp="1"/>
          </p:cNvSpPr>
          <p:nvPr>
            <p:ph type="title"/>
          </p:nvPr>
        </p:nvSpPr>
        <p:spPr>
          <a:xfrm>
            <a:off x="219456" y="73152"/>
            <a:ext cx="11759184" cy="530352"/>
          </a:xfrm>
        </p:spPr>
        <p:txBody>
          <a:bodyPr/>
          <a:lstStyle/>
          <a:p>
            <a:r>
              <a:rPr/>
              <a:t>Overall Documentation Compliance</a:t>
            </a:r>
          </a:p>
        </p:txBody>
      </p:sp>
      <p:sp>
        <p:nvSpPr>
          <p:cNvPr id="3" name="ph_measure"/>
          <p:cNvSpPr>
            <a:spLocks noGrp="1"/>
          </p:cNvSpPr>
          <p:nvPr>
            <p:ph type="body" idx="10"/>
          </p:nvPr>
        </p:nvSpPr>
        <p:spPr>
          <a:xfrm>
            <a:off x="292608" y="694944"/>
            <a:ext cx="3383280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Measure: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Overall Documentation Compliance</a:t>
            </a:r>
          </a:p>
        </p:txBody>
      </p:sp>
      <p:sp>
        <p:nvSpPr>
          <p:cNvPr id="4" name="ph_target"/>
          <p:cNvSpPr>
            <a:spLocks noGrp="1"/>
          </p:cNvSpPr>
          <p:nvPr>
            <p:ph type="body" idx="11"/>
          </p:nvPr>
        </p:nvSpPr>
        <p:spPr>
          <a:xfrm>
            <a:off x="292608" y="1088136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Target: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95%</a:t>
            </a:r>
          </a:p>
        </p:txBody>
      </p:sp>
      <p:sp>
        <p:nvSpPr>
          <p:cNvPr id="5" name="ph_schedule"/>
          <p:cNvSpPr>
            <a:spLocks noGrp="1"/>
          </p:cNvSpPr>
          <p:nvPr>
            <p:ph type="body" idx="12"/>
          </p:nvPr>
        </p:nvSpPr>
        <p:spPr>
          <a:xfrm>
            <a:off x="292608" y="1417320"/>
            <a:ext cx="3383280" cy="256032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Reporting schedule: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Monthly</a:t>
            </a:r>
          </a:p>
        </p:txBody>
      </p:sp>
      <p:sp>
        <p:nvSpPr>
          <p:cNvPr id="6" name="ph_definition"/>
          <p:cNvSpPr>
            <a:spLocks noGrp="1"/>
          </p:cNvSpPr>
          <p:nvPr>
            <p:ph type="body" idx="13"/>
          </p:nvPr>
        </p:nvSpPr>
        <p:spPr>
          <a:xfrm>
            <a:off x="3822192" y="694944"/>
            <a:ext cx="8083296" cy="365760"/>
          </a:xfrm>
        </p:spPr>
        <p:txBody>
          <a:bodyPr/>
          <a:lstStyle/>
          <a:p>
            <a:pPr>
              <a:buNone/>
            </a:pPr>
            <a:r>
              <a:rPr cap="none" sz="110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Definition: </a:t>
            </a: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Proportion of audited records meeting all five documentation criteria.</a:t>
            </a:r>
          </a:p>
        </p:txBody>
      </p:sp>
      <p:sp>
        <p:nvSpPr>
          <p:cNvPr id="7" name="ph_numerator"/>
          <p:cNvSpPr>
            <a:spLocks noGrp="1"/>
          </p:cNvSpPr>
          <p:nvPr>
            <p:ph type="body" idx="14"/>
          </p:nvPr>
        </p:nvSpPr>
        <p:spPr>
          <a:xfrm>
            <a:off x="4846320" y="1097280"/>
            <a:ext cx="2947594" cy="219456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Number of records meeting all criteria x 100%</a:t>
            </a:r>
          </a:p>
        </p:txBody>
      </p:sp>
      <p:sp>
        <p:nvSpPr>
          <p:cNvPr id="8" name="ph_denominator"/>
          <p:cNvSpPr>
            <a:spLocks noGrp="1"/>
          </p:cNvSpPr>
          <p:nvPr>
            <p:ph type="body" idx="15"/>
          </p:nvPr>
        </p:nvSpPr>
        <p:spPr>
          <a:xfrm>
            <a:off x="4846320" y="1353312"/>
            <a:ext cx="2947594" cy="219456"/>
          </a:xfrm>
        </p:spPr>
        <p:txBody>
          <a:bodyPr/>
          <a:lstStyle/>
          <a:p>
            <a:r>
              <a:rPr/>
              <a:t>Total number of records audited</a:t>
            </a:r>
          </a:p>
        </p:txBody>
      </p:sp>
      <p:sp>
        <p:nvSpPr>
          <p:cNvPr id="9" name="fraction_line"/>
          <p:cNvSpPr/>
          <p:nvPr/>
        </p:nvSpPr>
        <p:spPr>
          <a:xfrm>
            <a:off x="4846320" y="1335024"/>
            <a:ext cx="2947594" cy="0"/>
          </a:xfrm>
          <a:prstGeom prst="line">
            <a:avLst/>
          </a:prstGeom>
          <a:ln w="9525" cap="rnd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10" name="ph_table"/>
          <p:cNvGraphicFramePr>
            <a:graphicFrameLocks noGrp="true"/>
          </p:cNvGraphicFramePr>
          <p:nvPr/>
        </p:nvGraphicFramePr>
        <p:xfrm rot="0">
          <a:off x="219456" y="1737360"/>
          <a:ext cx="11759184" cy="1298448"/>
        </p:xfrm>
        <a:graphic>
          <a:graphicData uri="http://schemas.openxmlformats.org/drawingml/2006/table">
            <a:tbl>
              <a:tblPr/>
              <a:tblGrid>
                <a:gridCol w="1345147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  <a:gridCol w="867836"/>
              </a:tblGrid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Period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Jan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Feb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Apr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May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Jun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Jul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Aug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Sep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Oct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Nov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Dec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A6A6A6">
                        <a:alpha val="10000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Numerator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Denominator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15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19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11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83.3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28.6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68.8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72.7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55.6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Quarterly Rate, %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53.3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60.0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64.4</a:t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true"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/>
                      </a:r>
                    </a:p>
                  </a:txBody>
                  <a:tcPr anchor="ctr" marB="0" marT="0" marR="0" marL="0">
                    <a:lnL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ph_analysis"/>
          <p:cNvSpPr>
            <a:spLocks noGrp="1"/>
          </p:cNvSpPr>
          <p:nvPr>
            <p:ph type="body" idx="18"/>
          </p:nvPr>
        </p:nvSpPr>
        <p:spPr>
          <a:xfrm>
            <a:off x="292608" y="3364992"/>
            <a:ext cx="4187952" cy="1325880"/>
          </a:xfrm>
        </p:spPr>
        <p:txBody>
          <a:bodyPr/>
          <a:lstStyle/>
          <a:p>
            <a:r>
              <a:rPr sz="1050"/>
              <a:t>Sep compliance was 55.6% (10/18), below the 95% target; down from 72.7% in Aug.</a:t>
            </a:r>
          </a:p>
          <a:p>
            <a:r>
              <a:rPr sz="1050"/>
              <a:t>Target met in 0 of 9 months reported.</a:t>
            </a:r>
          </a:p>
          <a:p>
            <a:r>
              <a:rPr sz="1050"/>
              <a:t>Q3 rate 64.4% vs Q2 60.0%.</a:t>
            </a:r>
          </a:p>
          <a:p>
            <a:r>
              <a:rPr sz="1050"/>
              <a:t>All months within the control limits: common-cause variation only.</a:t>
            </a:r>
          </a:p>
        </p:txBody>
      </p:sp>
      <p:sp>
        <p:nvSpPr>
          <p:cNvPr id="12" name="ph_analysis_note"/>
          <p:cNvSpPr>
            <a:spLocks noGrp="1"/>
          </p:cNvSpPr>
          <p:nvPr>
            <p:ph type="body" idx="17"/>
          </p:nvPr>
        </p:nvSpPr>
        <p:spPr>
          <a:xfrm>
            <a:off x="1078992" y="3090672"/>
            <a:ext cx="3383280" cy="237744"/>
          </a:xfrm>
        </p:spPr>
        <p:txBody>
          <a:bodyPr/>
          <a:lstStyle/>
          <a:p>
            <a:r>
              <a:rPr/>
              <a:t>(auto-drafted, review before circulating)</a:t>
            </a:r>
          </a:p>
        </p:txBody>
      </p:sp>
      <p:sp>
        <p:nvSpPr>
          <p:cNvPr id="13" name="ph_action"/>
          <p:cNvSpPr>
            <a:spLocks noGrp="1"/>
          </p:cNvSpPr>
          <p:nvPr>
            <p:ph type="body" idx="19"/>
          </p:nvPr>
        </p:nvSpPr>
        <p:spPr>
          <a:xfrm>
            <a:off x="292608" y="4983480"/>
            <a:ext cx="4187952" cy="685800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14" name="ph_provider"/>
          <p:cNvSpPr>
            <a:spLocks noGrp="1"/>
          </p:cNvSpPr>
          <p:nvPr>
            <p:ph type="body" idx="20"/>
          </p:nvPr>
        </p:nvSpPr>
        <p:spPr>
          <a:xfrm>
            <a:off x="292608" y="5705856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Provider: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Medical Records department</a:t>
            </a:r>
          </a:p>
        </p:txBody>
      </p:sp>
      <p:sp>
        <p:nvSpPr>
          <p:cNvPr id="15" name="ph_responsible"/>
          <p:cNvSpPr>
            <a:spLocks noGrp="1"/>
          </p:cNvSpPr>
          <p:nvPr>
            <p:ph type="body" idx="21"/>
          </p:nvPr>
        </p:nvSpPr>
        <p:spPr>
          <a:xfrm>
            <a:off x="292608" y="5971032"/>
            <a:ext cx="4187952" cy="237744"/>
          </a:xfrm>
        </p:spPr>
        <p:txBody>
          <a:bodyPr/>
          <a:lstStyle/>
          <a:p>
            <a:pPr>
              <a:buNone/>
            </a:pPr>
            <a:r>
              <a:rPr cap="none" sz="1050" i="0" b="1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Responsible: </a:t>
            </a:r>
            <a:r>
              <a:rPr cap="none" sz="1050" i="0" b="0" u="none" strike="noStrik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Nurse In-Charge; all clinical staff</a:t>
            </a:r>
          </a:p>
        </p:txBody>
      </p:sp>
      <p:graphicFrame>
        <p:nvGraphicFramePr>
          <p:cNvPr id="16" name="ph_chart"/>
          <p:cNvGraphicFramePr>
            <a:graphicFrameLocks noGrp="true"/>
          </p:cNvGraphicFramePr>
          <p:nvPr/>
        </p:nvGraphicFramePr>
        <p:xfrm rot="0">
          <a:off x="4626864" y="3081528"/>
          <a:ext cx="7296912" cy="313639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ph_footer"/>
          <p:cNvSpPr>
            <a:spLocks noGrp="1"/>
          </p:cNvSpPr>
          <p:nvPr>
            <p:ph type="body" idx="23"/>
          </p:nvPr>
        </p:nvSpPr>
        <p:spPr>
          <a:xfrm>
            <a:off x="603504" y="6391656"/>
            <a:ext cx="5486400" cy="292608"/>
          </a:xfrm>
        </p:spPr>
        <p:txBody>
          <a:bodyPr/>
          <a:lstStyle/>
          <a:p>
            <a:r>
              <a:rPr/>
              <a:t>Mji Mpya Health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I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2" baseType="lpstr">
      <vt:lpstr>Arial</vt:lpstr>
      <vt:lpstr>KPI Master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2026-10-18T22:35:15Z</dcterms:modified>
  <cp:category/>
</cp:coreProperties>
</file>