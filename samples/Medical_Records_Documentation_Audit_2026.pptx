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236edda060.xml" ContentType="application/vnd.openxmlformats-officedocument.drawingml.chart+xml"/>
  <Override PartName="/ppt/slides/slide4.xml" ContentType="application/vnd.openxmlformats-officedocument.presentationml.slide+xml"/>
  <Override PartName="/ppt/charts/chart23615a151ab.xml" ContentType="application/vnd.openxmlformats-officedocument.drawingml.chart+xml"/>
  <Override PartName="/ppt/slides/slide5.xml" ContentType="application/vnd.openxmlformats-officedocument.presentationml.slide+xml"/>
  <Override PartName="/ppt/charts/chart2361586ab7e.xml" ContentType="application/vnd.openxmlformats-officedocument.drawingml.chart+xml"/>
  <Override PartName="/ppt/slides/slide6.xml" ContentType="application/vnd.openxmlformats-officedocument.presentationml.slide+xml"/>
  <Override PartName="/ppt/charts/chart236703dbac8.xml" ContentType="application/vnd.openxmlformats-officedocument.drawingml.chart+xml"/>
  <Override PartName="/ppt/slides/slide7.xml" ContentType="application/vnd.openxmlformats-officedocument.presentationml.slide+xml"/>
  <Override PartName="/ppt/charts/chart2361d61eb3f.xml" ContentType="application/vnd.openxmlformats-officedocument.drawingml.chart+xml"/>
  <Override PartName="/ppt/slides/slide8.xml" ContentType="application/vnd.openxmlformats-officedocument.presentationml.slide+xml"/>
  <Override PartName="/ppt/charts/chart23659298433.xml" ContentType="application/vnd.openxmlformats-officedocument.drawingml.chart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Relationship Id="rId7" Type="http://schemas.openxmlformats.org/officeDocument/2006/relationships/slide" Target="slides/slide2.xml"/>
<Relationship Id="rId8" Type="http://schemas.openxmlformats.org/officeDocument/2006/relationships/slide" Target="slides/slide3.xml"/>
<Relationship Id="rId9" Type="http://schemas.openxmlformats.org/officeDocument/2006/relationships/slide" Target="slides/slide4.xml"/>
<Relationship Id="rId10" Type="http://schemas.openxmlformats.org/officeDocument/2006/relationships/slide" Target="slides/slide5.xml"/>
<Relationship Id="rId11" Type="http://schemas.openxmlformats.org/officeDocument/2006/relationships/slide" Target="slides/slide6.xml"/>
<Relationship Id="rId12" Type="http://schemas.openxmlformats.org/officeDocument/2006/relationships/slide" Target="slides/slide7.xml"/>
<Relationship Id="rId13" Type="http://schemas.openxmlformats.org/officeDocument/2006/relationships/slide" Target="slides/slide8.xml"/>
</Relationships>

</file>

<file path=ppt/charts/_rels/chart236edda0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367f7db408.xlsx"/></Relationships>

</file>

<file path=ppt/charts/_rels/chart2361d61eb3f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36649f1e8c.xlsx"/></Relationships>

</file>

<file path=ppt/charts/_rels/chart23615a151ab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3654d8db7c.xlsx"/></Relationships>

</file>

<file path=ppt/charts/_rels/chart236703dbac8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3639f7d05c.xlsx"/></Relationships>

</file>

<file path=ppt/charts/_rels/chart2361586ab7e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367792e279.xlsx"/></Relationships>

</file>

<file path=ppt/charts/_rels/chart236592984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3653261f65.xlsx"/></Relationships>

</file>

<file path=ppt/charts/chart236edda0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Compliance to Documentation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100.00000</c:v>
                </c:pt>
                <c:pt idx="1">
                  <c:v>96.72131</c:v>
                </c:pt>
                <c:pt idx="2">
                  <c:v>93.75000</c:v>
                </c:pt>
                <c:pt idx="3">
                  <c:v>100.00000</c:v>
                </c:pt>
                <c:pt idx="4">
                  <c:v>98.36066</c:v>
                </c:pt>
                <c:pt idx="5">
                  <c:v>98.57143</c:v>
                </c:pt>
                <c:pt idx="6">
                  <c:v>98.27586</c:v>
                </c:pt>
                <c:pt idx="7">
                  <c:v>98.18182</c:v>
                </c:pt>
                <c:pt idx="8">
                  <c:v>92.30769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97.35209</c:v>
                </c:pt>
                <c:pt idx="1">
                  <c:v>97.35209</c:v>
                </c:pt>
                <c:pt idx="2">
                  <c:v>97.35209</c:v>
                </c:pt>
                <c:pt idx="3">
                  <c:v>97.35209</c:v>
                </c:pt>
                <c:pt idx="4">
                  <c:v>97.35209</c:v>
                </c:pt>
                <c:pt idx="5">
                  <c:v>97.35209</c:v>
                </c:pt>
                <c:pt idx="6">
                  <c:v>97.35209</c:v>
                </c:pt>
                <c:pt idx="7">
                  <c:v>97.35209</c:v>
                </c:pt>
                <c:pt idx="8">
                  <c:v>97.35209</c:v>
                </c:pt>
                <c:pt idx="9">
                  <c:v>97.35209</c:v>
                </c:pt>
                <c:pt idx="10">
                  <c:v>97.35209</c:v>
                </c:pt>
                <c:pt idx="11">
                  <c:v>97.35209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104.8945</c:v>
                </c:pt>
                <c:pt idx="1">
                  <c:v>104.8945</c:v>
                </c:pt>
                <c:pt idx="2">
                  <c:v>104.8945</c:v>
                </c:pt>
                <c:pt idx="3">
                  <c:v>104.8945</c:v>
                </c:pt>
                <c:pt idx="4">
                  <c:v>104.8945</c:v>
                </c:pt>
                <c:pt idx="5">
                  <c:v>104.8945</c:v>
                </c:pt>
                <c:pt idx="6">
                  <c:v>104.8945</c:v>
                </c:pt>
                <c:pt idx="7">
                  <c:v>104.8945</c:v>
                </c:pt>
                <c:pt idx="8">
                  <c:v>104.8945</c:v>
                </c:pt>
                <c:pt idx="9">
                  <c:v>104.8945</c:v>
                </c:pt>
                <c:pt idx="10">
                  <c:v>104.8945</c:v>
                </c:pt>
                <c:pt idx="11">
                  <c:v>104.8945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89.8097</c:v>
                </c:pt>
                <c:pt idx="1">
                  <c:v>89.8097</c:v>
                </c:pt>
                <c:pt idx="2">
                  <c:v>89.8097</c:v>
                </c:pt>
                <c:pt idx="3">
                  <c:v>89.8097</c:v>
                </c:pt>
                <c:pt idx="4">
                  <c:v>89.8097</c:v>
                </c:pt>
                <c:pt idx="5">
                  <c:v>89.8097</c:v>
                </c:pt>
                <c:pt idx="6">
                  <c:v>89.8097</c:v>
                </c:pt>
                <c:pt idx="7">
                  <c:v>89.8097</c:v>
                </c:pt>
                <c:pt idx="8">
                  <c:v>89.8097</c:v>
                </c:pt>
                <c:pt idx="9">
                  <c:v>89.8097</c:v>
                </c:pt>
                <c:pt idx="10">
                  <c:v>89.8097</c:v>
                </c:pt>
                <c:pt idx="11">
                  <c:v>89.8097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10.00"/>
          <c:min val="85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5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2361d61eb3f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Compliance to Accuracy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97.82609</c:v>
                </c:pt>
                <c:pt idx="1">
                  <c:v>90.62500</c:v>
                </c:pt>
                <c:pt idx="2">
                  <c:v>93.75000</c:v>
                </c:pt>
                <c:pt idx="3">
                  <c:v>90.90909</c:v>
                </c:pt>
                <c:pt idx="4">
                  <c:v>96.61017</c:v>
                </c:pt>
                <c:pt idx="5">
                  <c:v>95.65217</c:v>
                </c:pt>
                <c:pt idx="6">
                  <c:v>100.00000</c:v>
                </c:pt>
                <c:pt idx="7">
                  <c:v>92.59259</c:v>
                </c:pt>
                <c:pt idx="8">
                  <c:v>96.07843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94.89373</c:v>
                </c:pt>
                <c:pt idx="1">
                  <c:v>94.89373</c:v>
                </c:pt>
                <c:pt idx="2">
                  <c:v>94.89373</c:v>
                </c:pt>
                <c:pt idx="3">
                  <c:v>94.89373</c:v>
                </c:pt>
                <c:pt idx="4">
                  <c:v>94.89373</c:v>
                </c:pt>
                <c:pt idx="5">
                  <c:v>94.89373</c:v>
                </c:pt>
                <c:pt idx="6">
                  <c:v>94.89373</c:v>
                </c:pt>
                <c:pt idx="7">
                  <c:v>94.89373</c:v>
                </c:pt>
                <c:pt idx="8">
                  <c:v>94.89373</c:v>
                </c:pt>
                <c:pt idx="9">
                  <c:v>94.89373</c:v>
                </c:pt>
                <c:pt idx="10">
                  <c:v>94.89373</c:v>
                </c:pt>
                <c:pt idx="11">
                  <c:v>94.89373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103.8548</c:v>
                </c:pt>
                <c:pt idx="1">
                  <c:v>103.8548</c:v>
                </c:pt>
                <c:pt idx="2">
                  <c:v>103.8548</c:v>
                </c:pt>
                <c:pt idx="3">
                  <c:v>103.8548</c:v>
                </c:pt>
                <c:pt idx="4">
                  <c:v>103.8548</c:v>
                </c:pt>
                <c:pt idx="5">
                  <c:v>103.8548</c:v>
                </c:pt>
                <c:pt idx="6">
                  <c:v>103.8548</c:v>
                </c:pt>
                <c:pt idx="7">
                  <c:v>103.8548</c:v>
                </c:pt>
                <c:pt idx="8">
                  <c:v>103.8548</c:v>
                </c:pt>
                <c:pt idx="9">
                  <c:v>103.8548</c:v>
                </c:pt>
                <c:pt idx="10">
                  <c:v>103.8548</c:v>
                </c:pt>
                <c:pt idx="11">
                  <c:v>103.8548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85.93268</c:v>
                </c:pt>
                <c:pt idx="1">
                  <c:v>85.93268</c:v>
                </c:pt>
                <c:pt idx="2">
                  <c:v>85.93268</c:v>
                </c:pt>
                <c:pt idx="3">
                  <c:v>85.93268</c:v>
                </c:pt>
                <c:pt idx="4">
                  <c:v>85.93268</c:v>
                </c:pt>
                <c:pt idx="5">
                  <c:v>85.93268</c:v>
                </c:pt>
                <c:pt idx="6">
                  <c:v>85.93268</c:v>
                </c:pt>
                <c:pt idx="7">
                  <c:v>85.93268</c:v>
                </c:pt>
                <c:pt idx="8">
                  <c:v>85.93268</c:v>
                </c:pt>
                <c:pt idx="9">
                  <c:v>85.93268</c:v>
                </c:pt>
                <c:pt idx="10">
                  <c:v>85.93268</c:v>
                </c:pt>
                <c:pt idx="11">
                  <c:v>85.93268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10.00"/>
          <c:min val="80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5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23615a151ab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Compliance to Timeliness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90.19608</c:v>
                </c:pt>
                <c:pt idx="1">
                  <c:v>95.31250</c:v>
                </c:pt>
                <c:pt idx="2">
                  <c:v>92.30769</c:v>
                </c:pt>
                <c:pt idx="3">
                  <c:v>97.67442</c:v>
                </c:pt>
                <c:pt idx="4">
                  <c:v>88.13559</c:v>
                </c:pt>
                <c:pt idx="5">
                  <c:v>97.10145</c:v>
                </c:pt>
                <c:pt idx="6">
                  <c:v>96.42857</c:v>
                </c:pt>
                <c:pt idx="7">
                  <c:v>90.19608</c:v>
                </c:pt>
                <c:pt idx="8">
                  <c:v>84.90566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92.47312</c:v>
                </c:pt>
                <c:pt idx="1">
                  <c:v>92.47312</c:v>
                </c:pt>
                <c:pt idx="2">
                  <c:v>92.47312</c:v>
                </c:pt>
                <c:pt idx="3">
                  <c:v>92.47312</c:v>
                </c:pt>
                <c:pt idx="4">
                  <c:v>92.47312</c:v>
                </c:pt>
                <c:pt idx="5">
                  <c:v>92.47312</c:v>
                </c:pt>
                <c:pt idx="6">
                  <c:v>92.47312</c:v>
                </c:pt>
                <c:pt idx="7">
                  <c:v>92.47312</c:v>
                </c:pt>
                <c:pt idx="8">
                  <c:v>92.47312</c:v>
                </c:pt>
                <c:pt idx="9">
                  <c:v>92.47312</c:v>
                </c:pt>
                <c:pt idx="10">
                  <c:v>92.47312</c:v>
                </c:pt>
                <c:pt idx="11">
                  <c:v>92.47312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105.0692</c:v>
                </c:pt>
                <c:pt idx="1">
                  <c:v>105.0692</c:v>
                </c:pt>
                <c:pt idx="2">
                  <c:v>105.0692</c:v>
                </c:pt>
                <c:pt idx="3">
                  <c:v>105.0692</c:v>
                </c:pt>
                <c:pt idx="4">
                  <c:v>105.0692</c:v>
                </c:pt>
                <c:pt idx="5">
                  <c:v>105.0692</c:v>
                </c:pt>
                <c:pt idx="6">
                  <c:v>105.0692</c:v>
                </c:pt>
                <c:pt idx="7">
                  <c:v>105.0692</c:v>
                </c:pt>
                <c:pt idx="8">
                  <c:v>105.0692</c:v>
                </c:pt>
                <c:pt idx="9">
                  <c:v>105.0692</c:v>
                </c:pt>
                <c:pt idx="10">
                  <c:v>105.0692</c:v>
                </c:pt>
                <c:pt idx="11">
                  <c:v>105.0692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79.87707</c:v>
                </c:pt>
                <c:pt idx="1">
                  <c:v>79.87707</c:v>
                </c:pt>
                <c:pt idx="2">
                  <c:v>79.87707</c:v>
                </c:pt>
                <c:pt idx="3">
                  <c:v>79.87707</c:v>
                </c:pt>
                <c:pt idx="4">
                  <c:v>79.87707</c:v>
                </c:pt>
                <c:pt idx="5">
                  <c:v>79.87707</c:v>
                </c:pt>
                <c:pt idx="6">
                  <c:v>79.87707</c:v>
                </c:pt>
                <c:pt idx="7">
                  <c:v>79.87707</c:v>
                </c:pt>
                <c:pt idx="8">
                  <c:v>79.87707</c:v>
                </c:pt>
                <c:pt idx="9">
                  <c:v>79.87707</c:v>
                </c:pt>
                <c:pt idx="10">
                  <c:v>79.87707</c:v>
                </c:pt>
                <c:pt idx="11">
                  <c:v>79.87707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20.00"/>
          <c:min val="70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10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236703dbac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Compliance to Completeness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86.00000</c:v>
                </c:pt>
                <c:pt idx="1">
                  <c:v>93.75000</c:v>
                </c:pt>
                <c:pt idx="2">
                  <c:v>85.48387</c:v>
                </c:pt>
                <c:pt idx="3">
                  <c:v>90.90909</c:v>
                </c:pt>
                <c:pt idx="4">
                  <c:v>79.66102</c:v>
                </c:pt>
                <c:pt idx="5">
                  <c:v>94.02985</c:v>
                </c:pt>
                <c:pt idx="6">
                  <c:v>93.22034</c:v>
                </c:pt>
                <c:pt idx="7">
                  <c:v>79.24528</c:v>
                </c:pt>
                <c:pt idx="8">
                  <c:v>88.23529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87.83719</c:v>
                </c:pt>
                <c:pt idx="1">
                  <c:v>87.83719</c:v>
                </c:pt>
                <c:pt idx="2">
                  <c:v>87.83719</c:v>
                </c:pt>
                <c:pt idx="3">
                  <c:v>87.83719</c:v>
                </c:pt>
                <c:pt idx="4">
                  <c:v>87.83719</c:v>
                </c:pt>
                <c:pt idx="5">
                  <c:v>87.83719</c:v>
                </c:pt>
                <c:pt idx="6">
                  <c:v>87.83719</c:v>
                </c:pt>
                <c:pt idx="7">
                  <c:v>87.83719</c:v>
                </c:pt>
                <c:pt idx="8">
                  <c:v>87.83719</c:v>
                </c:pt>
                <c:pt idx="9">
                  <c:v>87.83719</c:v>
                </c:pt>
                <c:pt idx="10">
                  <c:v>87.83719</c:v>
                </c:pt>
                <c:pt idx="11">
                  <c:v>87.83719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104.0072</c:v>
                </c:pt>
                <c:pt idx="1">
                  <c:v>104.0072</c:v>
                </c:pt>
                <c:pt idx="2">
                  <c:v>104.0072</c:v>
                </c:pt>
                <c:pt idx="3">
                  <c:v>104.0072</c:v>
                </c:pt>
                <c:pt idx="4">
                  <c:v>104.0072</c:v>
                </c:pt>
                <c:pt idx="5">
                  <c:v>104.0072</c:v>
                </c:pt>
                <c:pt idx="6">
                  <c:v>104.0072</c:v>
                </c:pt>
                <c:pt idx="7">
                  <c:v>104.0072</c:v>
                </c:pt>
                <c:pt idx="8">
                  <c:v>104.0072</c:v>
                </c:pt>
                <c:pt idx="9">
                  <c:v>104.0072</c:v>
                </c:pt>
                <c:pt idx="10">
                  <c:v>104.0072</c:v>
                </c:pt>
                <c:pt idx="11">
                  <c:v>104.0072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71.66723</c:v>
                </c:pt>
                <c:pt idx="1">
                  <c:v>71.66723</c:v>
                </c:pt>
                <c:pt idx="2">
                  <c:v>71.66723</c:v>
                </c:pt>
                <c:pt idx="3">
                  <c:v>71.66723</c:v>
                </c:pt>
                <c:pt idx="4">
                  <c:v>71.66723</c:v>
                </c:pt>
                <c:pt idx="5">
                  <c:v>71.66723</c:v>
                </c:pt>
                <c:pt idx="6">
                  <c:v>71.66723</c:v>
                </c:pt>
                <c:pt idx="7">
                  <c:v>71.66723</c:v>
                </c:pt>
                <c:pt idx="8">
                  <c:v>71.66723</c:v>
                </c:pt>
                <c:pt idx="9">
                  <c:v>71.66723</c:v>
                </c:pt>
                <c:pt idx="10">
                  <c:v>71.66723</c:v>
                </c:pt>
                <c:pt idx="11">
                  <c:v>71.66723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20.00"/>
          <c:min val="60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10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2361586ab7e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Compliance to Legibility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94.00000</c:v>
                </c:pt>
                <c:pt idx="1">
                  <c:v>90.32258</c:v>
                </c:pt>
                <c:pt idx="2">
                  <c:v>96.96970</c:v>
                </c:pt>
                <c:pt idx="3">
                  <c:v>86.66667</c:v>
                </c:pt>
                <c:pt idx="4">
                  <c:v>88.13559</c:v>
                </c:pt>
                <c:pt idx="5">
                  <c:v>89.85507</c:v>
                </c:pt>
                <c:pt idx="6">
                  <c:v>94.54545</c:v>
                </c:pt>
                <c:pt idx="7">
                  <c:v>98.03922</c:v>
                </c:pt>
                <c:pt idx="8">
                  <c:v>84.31373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91.42756</c:v>
                </c:pt>
                <c:pt idx="1">
                  <c:v>91.42756</c:v>
                </c:pt>
                <c:pt idx="2">
                  <c:v>91.42756</c:v>
                </c:pt>
                <c:pt idx="3">
                  <c:v>91.42756</c:v>
                </c:pt>
                <c:pt idx="4">
                  <c:v>91.42756</c:v>
                </c:pt>
                <c:pt idx="5">
                  <c:v>91.42756</c:v>
                </c:pt>
                <c:pt idx="6">
                  <c:v>91.42756</c:v>
                </c:pt>
                <c:pt idx="7">
                  <c:v>91.42756</c:v>
                </c:pt>
                <c:pt idx="8">
                  <c:v>91.42756</c:v>
                </c:pt>
                <c:pt idx="9">
                  <c:v>91.42756</c:v>
                </c:pt>
                <c:pt idx="10">
                  <c:v>91.42756</c:v>
                </c:pt>
                <c:pt idx="11">
                  <c:v>91.42756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104.7906</c:v>
                </c:pt>
                <c:pt idx="1">
                  <c:v>104.7906</c:v>
                </c:pt>
                <c:pt idx="2">
                  <c:v>104.7906</c:v>
                </c:pt>
                <c:pt idx="3">
                  <c:v>104.7906</c:v>
                </c:pt>
                <c:pt idx="4">
                  <c:v>104.7906</c:v>
                </c:pt>
                <c:pt idx="5">
                  <c:v>104.7906</c:v>
                </c:pt>
                <c:pt idx="6">
                  <c:v>104.7906</c:v>
                </c:pt>
                <c:pt idx="7">
                  <c:v>104.7906</c:v>
                </c:pt>
                <c:pt idx="8">
                  <c:v>104.7906</c:v>
                </c:pt>
                <c:pt idx="9">
                  <c:v>104.7906</c:v>
                </c:pt>
                <c:pt idx="10">
                  <c:v>104.7906</c:v>
                </c:pt>
                <c:pt idx="11">
                  <c:v>104.7906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78.06449</c:v>
                </c:pt>
                <c:pt idx="1">
                  <c:v>78.06449</c:v>
                </c:pt>
                <c:pt idx="2">
                  <c:v>78.06449</c:v>
                </c:pt>
                <c:pt idx="3">
                  <c:v>78.06449</c:v>
                </c:pt>
                <c:pt idx="4">
                  <c:v>78.06449</c:v>
                </c:pt>
                <c:pt idx="5">
                  <c:v>78.06449</c:v>
                </c:pt>
                <c:pt idx="6">
                  <c:v>78.06449</c:v>
                </c:pt>
                <c:pt idx="7">
                  <c:v>78.06449</c:v>
                </c:pt>
                <c:pt idx="8">
                  <c:v>78.06449</c:v>
                </c:pt>
                <c:pt idx="9">
                  <c:v>78.06449</c:v>
                </c:pt>
                <c:pt idx="10">
                  <c:v>78.06449</c:v>
                </c:pt>
                <c:pt idx="11">
                  <c:v>78.06449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20.00"/>
          <c:min val="70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10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236592984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Compliance to Overall Documentation Compliance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68.62745</c:v>
                </c:pt>
                <c:pt idx="1">
                  <c:v>70.76923</c:v>
                </c:pt>
                <c:pt idx="2">
                  <c:v>68.18182</c:v>
                </c:pt>
                <c:pt idx="3">
                  <c:v>69.56522</c:v>
                </c:pt>
                <c:pt idx="4">
                  <c:v>57.37705</c:v>
                </c:pt>
                <c:pt idx="5">
                  <c:v>75.71429</c:v>
                </c:pt>
                <c:pt idx="6">
                  <c:v>86.44068</c:v>
                </c:pt>
                <c:pt idx="7">
                  <c:v>67.27273</c:v>
                </c:pt>
                <c:pt idx="8">
                  <c:v>62.26415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69.57918</c:v>
                </c:pt>
                <c:pt idx="1">
                  <c:v>69.57918</c:v>
                </c:pt>
                <c:pt idx="2">
                  <c:v>69.57918</c:v>
                </c:pt>
                <c:pt idx="3">
                  <c:v>69.57918</c:v>
                </c:pt>
                <c:pt idx="4">
                  <c:v>69.57918</c:v>
                </c:pt>
                <c:pt idx="5">
                  <c:v>69.57918</c:v>
                </c:pt>
                <c:pt idx="6">
                  <c:v>69.57918</c:v>
                </c:pt>
                <c:pt idx="7">
                  <c:v>69.57918</c:v>
                </c:pt>
                <c:pt idx="8">
                  <c:v>69.57918</c:v>
                </c:pt>
                <c:pt idx="9">
                  <c:v>69.57918</c:v>
                </c:pt>
                <c:pt idx="10">
                  <c:v>69.57918</c:v>
                </c:pt>
                <c:pt idx="11">
                  <c:v>69.57918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92.68645</c:v>
                </c:pt>
                <c:pt idx="1">
                  <c:v>92.68645</c:v>
                </c:pt>
                <c:pt idx="2">
                  <c:v>92.68645</c:v>
                </c:pt>
                <c:pt idx="3">
                  <c:v>92.68645</c:v>
                </c:pt>
                <c:pt idx="4">
                  <c:v>92.68645</c:v>
                </c:pt>
                <c:pt idx="5">
                  <c:v>92.68645</c:v>
                </c:pt>
                <c:pt idx="6">
                  <c:v>92.68645</c:v>
                </c:pt>
                <c:pt idx="7">
                  <c:v>92.68645</c:v>
                </c:pt>
                <c:pt idx="8">
                  <c:v>92.68645</c:v>
                </c:pt>
                <c:pt idx="9">
                  <c:v>92.68645</c:v>
                </c:pt>
                <c:pt idx="10">
                  <c:v>92.68645</c:v>
                </c:pt>
                <c:pt idx="11">
                  <c:v>92.68645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46.47191</c:v>
                </c:pt>
                <c:pt idx="1">
                  <c:v>46.47191</c:v>
                </c:pt>
                <c:pt idx="2">
                  <c:v>46.47191</c:v>
                </c:pt>
                <c:pt idx="3">
                  <c:v>46.47191</c:v>
                </c:pt>
                <c:pt idx="4">
                  <c:v>46.47191</c:v>
                </c:pt>
                <c:pt idx="5">
                  <c:v>46.47191</c:v>
                </c:pt>
                <c:pt idx="6">
                  <c:v>46.47191</c:v>
                </c:pt>
                <c:pt idx="7">
                  <c:v>46.47191</c:v>
                </c:pt>
                <c:pt idx="8">
                  <c:v>46.47191</c:v>
                </c:pt>
                <c:pt idx="9">
                  <c:v>46.47191</c:v>
                </c:pt>
                <c:pt idx="10">
                  <c:v>46.47191</c:v>
                </c:pt>
                <c:pt idx="11">
                  <c:v>46.47191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10.00"/>
          <c:min val="30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10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r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78151" y="628072"/>
            <a:ext cx="1356758" cy="1275353"/>
          </a:xfrm>
          <a:prstGeom prst="rect">
            <a:avLst/>
          </a:prstGeom>
        </p:spPr>
      </p:pic>
      <p:sp>
        <p:nvSpPr>
          <p:cNvPr id="3" name="Name box"/>
          <p:cNvSpPr/>
          <p:nvPr userDrawn="1"/>
        </p:nvSpPr>
        <p:spPr>
          <a:xfrm>
            <a:off x="1458468" y="2358238"/>
            <a:ext cx="9274759" cy="1232611"/>
          </a:xfrm>
          <a:prstGeom prst="rect">
            <a:avLst/>
          </a:prstGeom>
          <a:solidFill>
            <a:srgbClr val="FFFFFF"/>
          </a:solidFill>
          <a:ln w="28575">
            <a:solidFill>
              <a:srgbClr val="1F4E79"/>
            </a:solidFill>
          </a:ln>
        </p:spPr>
      </p:sp>
      <p:sp>
        <p:nvSpPr>
          <p:cNvPr id="4" name="ph_facility"/>
          <p:cNvSpPr>
            <a:spLocks noGrp="1"/>
          </p:cNvSpPr>
          <p:nvPr>
            <p:ph type="body" idx="10"/>
          </p:nvPr>
        </p:nvSpPr>
        <p:spPr>
          <a:xfrm>
            <a:off x="1549908" y="2403958"/>
            <a:ext cx="9091879" cy="1141171"/>
          </a:xfrm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36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HOSPITAL NAME</a:t>
            </a:r>
          </a:p>
        </p:txBody>
      </p:sp>
      <p:sp>
        <p:nvSpPr>
          <p:cNvPr id="5" name="ph_deck_title"/>
          <p:cNvSpPr>
            <a:spLocks noGrp="1"/>
          </p:cNvSpPr>
          <p:nvPr>
            <p:ph type="ctrTitle"/>
          </p:nvPr>
        </p:nvSpPr>
        <p:spPr>
          <a:xfrm>
            <a:off x="1524305" y="3739896"/>
            <a:ext cx="9144000" cy="292608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8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Deck title</a:t>
            </a:r>
          </a:p>
        </p:txBody>
      </p:sp>
      <p:sp>
        <p:nvSpPr>
          <p:cNvPr id="6" name="ph_subtitle"/>
          <p:cNvSpPr>
            <a:spLocks noGrp="1"/>
          </p:cNvSpPr>
          <p:nvPr>
            <p:ph type="body" idx="11"/>
          </p:nvPr>
        </p:nvSpPr>
        <p:spPr>
          <a:xfrm>
            <a:off x="1524305" y="4032504"/>
            <a:ext cx="9144000" cy="274320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6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Unit (when one deck per unit)</a:t>
            </a:r>
          </a:p>
        </p:txBody>
      </p:sp>
      <p:sp>
        <p:nvSpPr>
          <p:cNvPr id="7" name="ph_period"/>
          <p:cNvSpPr>
            <a:spLocks noGrp="1"/>
          </p:cNvSpPr>
          <p:nvPr>
            <p:ph type="body" idx="12"/>
          </p:nvPr>
        </p:nvSpPr>
        <p:spPr>
          <a:xfrm>
            <a:off x="1524305" y="4306824"/>
            <a:ext cx="9144000" cy="292608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8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Reporting period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Indicator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s heading"/>
          <p:cNvSpPr txBox="1"/>
          <p:nvPr userDrawn="1"/>
        </p:nvSpPr>
        <p:spPr>
          <a:xfrm>
            <a:off x="837590" y="208483"/>
            <a:ext cx="5486400" cy="4617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2400" b="1" i="0">
                <a:solidFill>
                  <a:srgbClr val="7F7F7F"/>
                </a:solidFill>
                <a:latin typeface="Arial"/>
                <a:cs typeface="Arial"/>
              </a:rPr>
              <a:t>Indicators:</a:t>
            </a:r>
          </a:p>
        </p:txBody>
      </p:sp>
      <p:sp>
        <p:nvSpPr>
          <p:cNvPr id="3" name="List box"/>
          <p:cNvSpPr/>
          <p:nvPr userDrawn="1"/>
        </p:nvSpPr>
        <p:spPr>
          <a:xfrm>
            <a:off x="746150" y="670255"/>
            <a:ext cx="10972800" cy="5980176"/>
          </a:xfrm>
          <a:prstGeom prst="rect">
            <a:avLst/>
          </a:prstGeom>
          <a:solidFill>
            <a:srgbClr val="FFFFFF"/>
          </a:solidFill>
          <a:ln w="28575">
            <a:solidFill>
              <a:srgbClr val="1F4E79"/>
            </a:solidFill>
          </a:ln>
        </p:spPr>
      </p:sp>
      <p:sp>
        <p:nvSpPr>
          <p:cNvPr id="4" name="ph_indicator_list"/>
          <p:cNvSpPr>
            <a:spLocks noGrp="1"/>
          </p:cNvSpPr>
          <p:nvPr>
            <p:ph type="body" idx="10"/>
          </p:nvPr>
        </p:nvSpPr>
        <p:spPr>
          <a:xfrm>
            <a:off x="837590" y="715975"/>
            <a:ext cx="10789920" cy="5888736"/>
          </a:xfrm>
        </p:spPr>
        <p:txBody>
          <a:bodyPr wrap="square" lIns="0" tIns="0" rIns="0" bIns="0" anchor="t">
            <a:normAutofit/>
          </a:bodyPr>
          <a:lstStyle>
            <a:lvl1pPr marL="909320" indent="-34290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lang="en-GB" sz="14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Indicator titles (filled by R)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KPI Indic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26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Indicator title</a:t>
            </a:r>
          </a:p>
        </p:txBody>
      </p:sp>
      <p:sp>
        <p:nvSpPr>
          <p:cNvPr id="3" name="Header box"/>
          <p:cNvSpPr/>
          <p:nvPr userDrawn="1"/>
        </p:nvSpPr>
        <p:spPr>
          <a:xfrm>
            <a:off x="219456" y="640080"/>
            <a:ext cx="11759184" cy="10972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</p:sp>
      <p:cxnSp>
        <p:nvCxnSpPr>
          <p:cNvPr id="4" name="Header divider"/>
          <p:cNvCxnSpPr/>
          <p:nvPr userDrawn="1"/>
        </p:nvCxnSpPr>
        <p:spPr>
          <a:xfrm>
            <a:off x="3749040" y="640080"/>
            <a:ext cx="0" cy="109728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Measure: …</a:t>
            </a:r>
          </a:p>
        </p:txBody>
      </p:sp>
      <p:sp>
        <p:nvSpPr>
          <p:cNvPr id="6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Target: …</a:t>
            </a:r>
          </a:p>
        </p:txBody>
      </p:sp>
      <p:sp>
        <p:nvSpPr>
          <p:cNvPr id="7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Reporting schedule: …</a:t>
            </a:r>
          </a:p>
        </p:txBody>
      </p:sp>
      <p:sp>
        <p:nvSpPr>
          <p:cNvPr id="8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Definition: …</a:t>
            </a:r>
          </a:p>
        </p:txBody>
      </p:sp>
      <p:sp>
        <p:nvSpPr>
          <p:cNvPr id="9" name="Numerator label"/>
          <p:cNvSpPr txBox="1"/>
          <p:nvPr userDrawn="1"/>
        </p:nvSpPr>
        <p:spPr>
          <a:xfrm>
            <a:off x="3822192" y="109728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lang="en-GB" sz="1100" b="1" i="0">
                <a:solidFill>
                  <a:srgbClr val="000000"/>
                </a:solidFill>
                <a:latin typeface="Arial"/>
                <a:cs typeface="Arial"/>
              </a:rPr>
              <a:t>Numerator:</a:t>
            </a:r>
          </a:p>
        </p:txBody>
      </p:sp>
      <p:sp>
        <p:nvSpPr>
          <p:cNvPr id="10" name="Denominator label"/>
          <p:cNvSpPr txBox="1"/>
          <p:nvPr userDrawn="1"/>
        </p:nvSpPr>
        <p:spPr>
          <a:xfrm>
            <a:off x="3822192" y="1353312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GB" sz="1100" b="1" i="0">
                <a:solidFill>
                  <a:srgbClr val="000000"/>
                </a:solidFill>
                <a:latin typeface="Arial"/>
                <a:cs typeface="Arial"/>
              </a:rPr>
              <a:t>Denominator:</a:t>
            </a:r>
          </a:p>
        </p:txBody>
      </p:sp>
      <p:sp>
        <p:nvSpPr>
          <p:cNvPr id="11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6949440" cy="219456"/>
          </a:xfrm>
        </p:spPr>
        <p:txBody>
          <a:bodyPr wrap="square"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Numerator definition × 100%</a:t>
            </a:r>
          </a:p>
        </p:txBody>
      </p:sp>
      <p:sp>
        <p:nvSpPr>
          <p:cNvPr id="12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6949440" cy="219456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Denominator definition</a:t>
            </a:r>
          </a:p>
        </p:txBody>
      </p:sp>
      <p:sp>
        <p:nvSpPr>
          <p:cNvPr id="13" name="ph_table"/>
          <p:cNvSpPr>
            <a:spLocks noGrp="1"/>
          </p:cNvSpPr>
          <p:nvPr>
            <p:ph type="tbl" idx="16"/>
          </p:nvPr>
        </p:nvSpPr>
        <p:spPr>
          <a:xfrm>
            <a:off x="219456" y="1737360"/>
            <a:ext cx="11759184" cy="1298448"/>
          </a:xfrm>
        </p:spPr>
        <p:txBody>
          <a:bodyPr/>
          <a:lstStyle/>
          <a:p>
            <a:r>
              <a:rPr lang="en-GB"/>
              <a:t>Monthly table (filled by R)</a:t>
            </a:r>
          </a:p>
        </p:txBody>
      </p:sp>
      <p:sp>
        <p:nvSpPr>
          <p:cNvPr id="14" name="Bottom box"/>
          <p:cNvSpPr/>
          <p:nvPr userDrawn="1"/>
        </p:nvSpPr>
        <p:spPr>
          <a:xfrm>
            <a:off x="219456" y="3035808"/>
            <a:ext cx="11759184" cy="322783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</p:sp>
      <p:cxnSp>
        <p:nvCxnSpPr>
          <p:cNvPr id="15" name="Bottom divider"/>
          <p:cNvCxnSpPr/>
          <p:nvPr userDrawn="1"/>
        </p:nvCxnSpPr>
        <p:spPr>
          <a:xfrm>
            <a:off x="4572000" y="3035808"/>
            <a:ext cx="0" cy="3227832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6" name="Analysis label"/>
          <p:cNvSpPr txBox="1"/>
          <p:nvPr userDrawn="1"/>
        </p:nvSpPr>
        <p:spPr>
          <a:xfrm>
            <a:off x="292608" y="3090672"/>
            <a:ext cx="82296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1050" b="1" i="0" u="sng">
                <a:solidFill>
                  <a:srgbClr val="000000"/>
                </a:solidFill>
                <a:latin typeface="Arial"/>
                <a:cs typeface="Arial"/>
              </a:rPr>
              <a:t>Analysis:</a:t>
            </a:r>
          </a:p>
        </p:txBody>
      </p:sp>
      <p:sp>
        <p:nvSpPr>
          <p:cNvPr id="17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800" b="0" i="1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(auto-drafted note)</a:t>
            </a:r>
          </a:p>
        </p:txBody>
      </p:sp>
      <p:sp>
        <p:nvSpPr>
          <p:cNvPr id="18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AutoNum type="arabicPeriod"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Click to add analysis</a:t>
            </a:r>
          </a:p>
        </p:txBody>
      </p:sp>
      <p:sp>
        <p:nvSpPr>
          <p:cNvPr id="19" name="Action label"/>
          <p:cNvSpPr txBox="1"/>
          <p:nvPr userDrawn="1"/>
        </p:nvSpPr>
        <p:spPr>
          <a:xfrm>
            <a:off x="292608" y="4718304"/>
            <a:ext cx="82296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1050" b="1" i="0" u="sng">
                <a:solidFill>
                  <a:srgbClr val="000000"/>
                </a:solidFill>
                <a:latin typeface="Arial"/>
                <a:cs typeface="Arial"/>
              </a:rPr>
              <a:t>Action:</a:t>
            </a:r>
          </a:p>
        </p:txBody>
      </p:sp>
      <p:sp>
        <p:nvSpPr>
          <p:cNvPr id="20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AutoNum type="arabicPeriod"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Click to add actions</a:t>
            </a:r>
          </a:p>
        </p:txBody>
      </p:sp>
      <p:sp>
        <p:nvSpPr>
          <p:cNvPr id="21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Data Provider: …</a:t>
            </a:r>
          </a:p>
        </p:txBody>
      </p:sp>
      <p:sp>
        <p:nvSpPr>
          <p:cNvPr id="22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Responsible: …</a:t>
            </a:r>
          </a:p>
        </p:txBody>
      </p:sp>
      <p:sp>
        <p:nvSpPr>
          <p:cNvPr id="23" name="ph_chart"/>
          <p:cNvSpPr>
            <a:spLocks noGrp="1"/>
          </p:cNvSpPr>
          <p:nvPr>
            <p:ph type="chart" idx="22"/>
          </p:nvPr>
        </p:nvSpPr>
        <p:spPr>
          <a:xfrm>
            <a:off x="4626864" y="3081528"/>
            <a:ext cx="7296912" cy="3136392"/>
          </a:xfrm>
        </p:spPr>
        <p:txBody>
          <a:bodyPr/>
          <a:lstStyle/>
          <a:p>
            <a:r>
              <a:rPr lang="en-GB"/>
              <a:t>Control chart (filled by R)</a:t>
            </a:r>
          </a:p>
        </p:txBody>
      </p:sp>
      <p:pic>
        <p:nvPicPr>
          <p:cNvPr id="24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032" y="6409944"/>
            <a:ext cx="272374" cy="256032"/>
          </a:xfrm>
          <a:prstGeom prst="rect">
            <a:avLst/>
          </a:prstGeom>
        </p:spPr>
      </p:pic>
      <p:sp>
        <p:nvSpPr>
          <p:cNvPr id="25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Organisation name</a:t>
            </a:r>
          </a:p>
        </p:txBody>
      </p:sp>
      <p:sp>
        <p:nvSpPr>
          <p:cNvPr id="26" name="Red bar"/>
          <p:cNvSpPr/>
          <p:nvPr userDrawn="1"/>
        </p:nvSpPr>
        <p:spPr>
          <a:xfrm>
            <a:off x="0" y="6739128"/>
            <a:ext cx="12191970" cy="12189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KPI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36edda060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3615a151ab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361586ab7e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36703dbac8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361d61eb3f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3659298433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facility"/>
          <p:cNvSpPr>
            <a:spLocks noGrp="1"/>
          </p:cNvSpPr>
          <p:nvPr>
            <p:ph type="body" idx="10"/>
          </p:nvPr>
        </p:nvSpPr>
        <p:spPr>
          <a:xfrm>
            <a:off x="1549908" y="2403958"/>
            <a:ext cx="9091879" cy="1141171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6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MJI MPYA REFERRAL HOSPITAL</a:t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Dodoma</a:t>
            </a:r>
          </a:p>
        </p:txBody>
      </p:sp>
      <p:sp>
        <p:nvSpPr>
          <p:cNvPr id="3" name="ph_deck_title"/>
          <p:cNvSpPr>
            <a:spLocks noGrp="1"/>
          </p:cNvSpPr>
          <p:nvPr>
            <p:ph type="ctrTitle"/>
          </p:nvPr>
        </p:nvSpPr>
        <p:spPr>
          <a:xfrm>
            <a:off x="1524305" y="3739896"/>
            <a:ext cx="9144000" cy="292608"/>
          </a:xfrm>
        </p:spPr>
        <p:txBody>
          <a:bodyPr/>
          <a:lstStyle/>
          <a:p>
            <a:r>
              <a:rPr/>
              <a:t>Medical Records Documentation Audit</a:t>
            </a:r>
          </a:p>
        </p:txBody>
      </p:sp>
      <p:sp>
        <p:nvSpPr>
          <p:cNvPr id="4" name="ph_period"/>
          <p:cNvSpPr>
            <a:spLocks noGrp="1"/>
          </p:cNvSpPr>
          <p:nvPr>
            <p:ph type="body" idx="12"/>
          </p:nvPr>
        </p:nvSpPr>
        <p:spPr>
          <a:xfrm>
            <a:off x="1524305" y="4306824"/>
            <a:ext cx="9144000" cy="292608"/>
          </a:xfrm>
        </p:spPr>
        <p:txBody>
          <a:bodyPr/>
          <a:lstStyle/>
          <a:p>
            <a:r>
              <a:rPr/>
              <a:t>Q1 - 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indicator_list"/>
          <p:cNvSpPr>
            <a:spLocks noGrp="1"/>
          </p:cNvSpPr>
          <p:nvPr>
            <p:ph type="body" idx="10"/>
          </p:nvPr>
        </p:nvSpPr>
        <p:spPr>
          <a:xfrm>
            <a:off x="837590" y="715975"/>
            <a:ext cx="10789920" cy="5888736"/>
          </a:xfrm>
        </p:spPr>
        <p:txBody>
          <a:bodyPr/>
          <a:lstStyle/>
          <a:p>
            <a:r>
              <a:rPr sz="1400"/>
              <a:t>Documentation</a:t>
            </a:r>
          </a:p>
          <a:p>
            <a:r>
              <a:rPr sz="1400"/>
              <a:t>Timeliness</a:t>
            </a:r>
          </a:p>
          <a:p>
            <a:r>
              <a:rPr sz="1400"/>
              <a:t>Legibility</a:t>
            </a:r>
          </a:p>
          <a:p>
            <a:r>
              <a:rPr sz="1400"/>
              <a:t>Completeness</a:t>
            </a:r>
          </a:p>
          <a:p>
            <a:r>
              <a:rPr sz="1400"/>
              <a:t>Accuracy</a:t>
            </a:r>
          </a:p>
          <a:p>
            <a:r>
              <a:rPr sz="1400"/>
              <a:t>Overall Documentation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Documentation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Documentation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95%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Proportion of audited records in which the required entries are documented.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3877437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records with required entries documented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3877437" cy="219456"/>
          </a:xfrm>
        </p:spPr>
        <p:txBody>
          <a:bodyPr/>
          <a:lstStyle/>
          <a:p>
            <a:r>
              <a:rPr/>
              <a:t>Total number of records audited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3877437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96.7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93.8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96.6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96.4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92.3% (48/52), below the 95% target; down from 98.2% in Aug.</a:t>
            </a:r>
          </a:p>
          <a:p>
            <a:r>
              <a:rPr sz="1050"/>
              <a:t>Target met in 7 of 9 months reported.</a:t>
            </a:r>
          </a:p>
          <a:p>
            <a:r>
              <a:rPr sz="1050"/>
              <a:t>Q3 rate 96.4% vs Q2 98.9%.</a:t>
            </a:r>
          </a:p>
          <a:p>
            <a:r>
              <a:rPr sz="1050"/>
              <a:t>All months within the control limits: common-cause variation only.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Medical Records department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Timeliness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Timeliness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95%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Proportion of audited records with entries made within the required timeframe.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2922168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records with timely entries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2922168" cy="219456"/>
          </a:xfrm>
        </p:spPr>
        <p:txBody>
          <a:bodyPr/>
          <a:lstStyle/>
          <a:p>
            <a:r>
              <a:rPr/>
              <a:t>Total number of records audited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2922168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88.1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97.1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96.4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84.9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92.8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84.9% (45/53), below the 95% target; down from 90.2% in Aug.</a:t>
            </a:r>
          </a:p>
          <a:p>
            <a:r>
              <a:rPr sz="1050"/>
              <a:t>Target met in 4 of 9 months reported.</a:t>
            </a:r>
          </a:p>
          <a:p>
            <a:r>
              <a:rPr sz="1050"/>
              <a:t>Q3 rate 90.6% vs Q2 94.2%.</a:t>
            </a:r>
          </a:p>
          <a:p>
            <a:r>
              <a:rPr sz="1050"/>
              <a:t>All months within the control limits: common-cause variation only.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 sz="1050"/>
              <a:t>Re-orient ward staff on documentation timelines at the monthly unit meeting.</a:t>
            </a:r>
          </a:p>
          <a:p>
            <a:r>
              <a:rPr sz="1050"/>
              <a:t>Nurse In-Charge to spot-check 5 records weekly.</a:t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Medical Records department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Legibility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Legibility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95%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Proportion of audited records in which all entries are legible.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2958351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records with legible entries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2958351" cy="219456"/>
          </a:xfrm>
        </p:spPr>
        <p:txBody>
          <a:bodyPr/>
          <a:lstStyle/>
          <a:p>
            <a:r>
              <a:rPr/>
              <a:t>Total number of records audited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2958351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86.7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88.1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89.9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94.5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98.0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84.3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93.8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84.3% (43/51), below the 95% target; down from 98.0% in Aug.</a:t>
            </a:r>
          </a:p>
          <a:p>
            <a:r>
              <a:rPr sz="1050"/>
              <a:t>Target met in 2 of 9 months reported.</a:t>
            </a:r>
          </a:p>
          <a:p>
            <a:r>
              <a:rPr sz="1050"/>
              <a:t>Q3 rate 92.4% vs Q2 88.4%.</a:t>
            </a:r>
          </a:p>
          <a:p>
            <a:r>
              <a:rPr sz="1050"/>
              <a:t>All months within the control limits: common-cause variation only.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Medical Records department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Completeness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Completeness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95%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Proportion of audited records with all required fields completed.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2376780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complete records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2376780" cy="219456"/>
          </a:xfrm>
        </p:spPr>
        <p:txBody>
          <a:bodyPr/>
          <a:lstStyle/>
          <a:p>
            <a:r>
              <a:rPr/>
              <a:t>Total number of records audited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2376780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86.0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93.8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85.5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79.7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79.2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87.1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88.2% (45/51), below the 95% target; up from 79.2% in Aug.</a:t>
            </a:r>
          </a:p>
          <a:p>
            <a:r>
              <a:rPr sz="1050"/>
              <a:t>Target met in 0 of 9 months reported.</a:t>
            </a:r>
          </a:p>
          <a:p>
            <a:r>
              <a:rPr sz="1050"/>
              <a:t>Q3 rate 87.1% vs Q2 88.2%.</a:t>
            </a:r>
          </a:p>
          <a:p>
            <a:r>
              <a:rPr sz="1050"/>
              <a:t>All months within the control limits: common-cause variation only.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Medical Records department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Accuracy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Accuracy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95%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Proportion of audited records whose entries are accurate.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2344369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accurate records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2344369" cy="219456"/>
          </a:xfrm>
        </p:spPr>
        <p:txBody>
          <a:bodyPr/>
          <a:lstStyle/>
          <a:p>
            <a:r>
              <a:rPr/>
              <a:t>Total number of records audited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2344369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97.8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93.8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96.6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96.1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94.8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96.3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96.1% (49/51), meeting the 95% target; up from 92.6% in Aug.</a:t>
            </a:r>
          </a:p>
          <a:p>
            <a:r>
              <a:rPr sz="1050"/>
              <a:t>Target met in 5 of 9 months reported.</a:t>
            </a:r>
          </a:p>
          <a:p>
            <a:r>
              <a:rPr sz="1050"/>
              <a:t>Q3 rate 96.3% vs Q2 94.8%.</a:t>
            </a:r>
          </a:p>
          <a:p>
            <a:r>
              <a:rPr sz="1050"/>
              <a:t>All months within the control limits: common-cause variation only.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Medical Records department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Overall Documentation Compliance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Overall Documentation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95%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Proportion of audited records meeting all five documentation criteria.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2947594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records meeting all criteria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2947594" cy="219456"/>
          </a:xfrm>
        </p:spPr>
        <p:txBody>
          <a:bodyPr/>
          <a:lstStyle/>
          <a:p>
            <a:r>
              <a:rPr/>
              <a:t>Total number of records audited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2947594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70.8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69.6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57.4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75.7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86.4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62.3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69.2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67.8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72.5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62.3% (33/53), below the 95% target; down from 67.3% in Aug.</a:t>
            </a:r>
          </a:p>
          <a:p>
            <a:r>
              <a:rPr sz="1050"/>
              <a:t>Target met in 0 of 9 months reported.</a:t>
            </a:r>
          </a:p>
          <a:p>
            <a:r>
              <a:rPr sz="1050"/>
              <a:t>Q3 rate 72.5% vs Q2 67.8%.</a:t>
            </a:r>
          </a:p>
          <a:p>
            <a:r>
              <a:rPr sz="1050"/>
              <a:t>All months within the control limits: common-cause variation only.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Medical Records department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PI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KPI Master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2026-10-18T22:35:08Z</dcterms:modified>
  <cp:category/>
</cp:coreProperties>
</file>